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400" b="0">
                <a:solidFill>
                  <a:srgbClr val="0F1B3D"/>
                </a:solidFill>
                <a:latin typeface="Calibri"/>
              </a:rPr>
              <a:t>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9601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2C94C"/>
                </a:solidFill>
                <a:latin typeface="Calibri"/>
              </a:rPr>
              <a:t>PINGFIN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417320"/>
            <a:ext cx="100584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SEPA Payment System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83464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E2ECFF"/>
                </a:solidFill>
                <a:latin typeface="Calibri"/>
              </a:rPr>
              <a:t>Team 20 · Workshop Software Engineering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3566160"/>
            <a:ext cx="2528316" cy="292608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3566160"/>
            <a:ext cx="2528316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F1B3D"/>
                </a:solidFill>
                <a:latin typeface="Calibri"/>
              </a:rPr>
              <a:t>BANK 1 · CEKVBE88 · port 8089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3566160"/>
            <a:ext cx="2528316" cy="292608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3566160"/>
            <a:ext cx="2528316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F1B3D"/>
                </a:solidFill>
                <a:latin typeface="Calibri"/>
              </a:rPr>
              <a:t>BANK 2 · HOMNBEB1 · port 8090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7C93B8"/>
                </a:solidFill>
                <a:latin typeface="Calibri"/>
              </a:rPr>
              <a:t>Salaheddine Sennouni  ·  Abdallah Azouagh  ·  Ayoub Abdeddoun  ·  Marwan Saidi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21792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C93B8"/>
                </a:solidFill>
                <a:latin typeface="Calibri"/>
              </a:rPr>
              <a:t>Coach: Rogier van der Linde · Polina Kozlova · Odisee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Het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7C93B8"/>
                </a:solidFill>
                <a:latin typeface="Calibri"/>
              </a:rPr>
              <a:t>Wie heeft wat gedaan?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C93B8"/>
                </a:solidFill>
                <a:latin typeface="Consolas"/>
              </a:rPr>
              <a:t>2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C93B8"/>
                </a:solidFill>
                <a:latin typeface="Calibri"/>
              </a:rPr>
              <a:t>PingFin · Team 20 · CEKVBE88 + HOMNBEB1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5486400" cy="210312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73152" cy="210312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1920240"/>
            <a:ext cx="914400" cy="914400"/>
          </a:xfrm>
          <a:prstGeom prst="ellipse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9144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0F1B3D"/>
                </a:solidFill>
                <a:latin typeface="Calibri"/>
              </a:rPr>
              <a:t>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920240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Salaheddine Sennouni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286000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2C94C"/>
                </a:solidFill>
                <a:latin typeface="Calibri"/>
              </a:rPr>
              <a:t>Backend &amp;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71800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C93B8"/>
                </a:solidFill>
                <a:latin typeface="Calibri"/>
              </a:rPr>
              <a:t>API endpoints · DB design · Background jobs · Security · Deployment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59" y="1554480"/>
            <a:ext cx="5486400" cy="210312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59" y="1554480"/>
            <a:ext cx="73152" cy="210312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75120" y="1920240"/>
            <a:ext cx="914400" cy="914400"/>
          </a:xfrm>
          <a:prstGeom prst="ellipse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1920240"/>
            <a:ext cx="9144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0F1B3D"/>
                </a:solidFill>
                <a:latin typeface="Calibri"/>
              </a:rPr>
              <a:t>AA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1920240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Abdallah Azouagh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286000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2C94C"/>
                </a:solidFill>
                <a:latin typeface="Calibri"/>
              </a:rPr>
              <a:t>Team Lead &amp;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971800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C93B8"/>
                </a:solidFill>
                <a:latin typeface="Calibri"/>
              </a:rPr>
              <a:t>Project management · Trello · Cross-team testing · Verslag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931920"/>
            <a:ext cx="5486400" cy="210312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931920"/>
            <a:ext cx="73152" cy="210312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97680"/>
            <a:ext cx="914400" cy="914400"/>
          </a:xfrm>
          <a:prstGeom prst="ellipse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297680"/>
            <a:ext cx="9144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0F1B3D"/>
                </a:solidFill>
                <a:latin typeface="Calibri"/>
              </a:rPr>
              <a:t>AB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4297680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Ayoub Abdeddoun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4663440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2C94C"/>
                </a:solidFill>
                <a:latin typeface="Calibri"/>
              </a:rPr>
              <a:t>Validation &amp; Database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349240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C93B8"/>
                </a:solidFill>
                <a:latin typeface="Calibri"/>
              </a:rPr>
              <a:t>Validation rules · Foutcode-mapping · DB-schema · Test suite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59" y="3931920"/>
            <a:ext cx="5486400" cy="210312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59" y="3931920"/>
            <a:ext cx="73152" cy="210312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675120" y="4297680"/>
            <a:ext cx="914400" cy="914400"/>
          </a:xfrm>
          <a:prstGeom prst="ellipse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4297680"/>
            <a:ext cx="9144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0F1B3D"/>
                </a:solidFill>
                <a:latin typeface="Calibri"/>
              </a:rPr>
              <a:t>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4297680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Marwan Saidi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4663440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2C94C"/>
                </a:solidFill>
                <a:latin typeface="Calibri"/>
              </a:rPr>
              <a:t>Frontend &amp; Design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5349240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C93B8"/>
                </a:solidFill>
                <a:latin typeface="Calibri"/>
              </a:rPr>
              <a:t>GUI HTML/CSS · Live notifications · Auto-poll · Mockups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Probleemstelling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7C93B8"/>
                </a:solidFill>
                <a:latin typeface="Calibri"/>
              </a:rPr>
              <a:t>Wat is PingFin?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C93B8"/>
                </a:solidFill>
                <a:latin typeface="Consolas"/>
              </a:rPr>
              <a:t>3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C93B8"/>
                </a:solidFill>
                <a:latin typeface="Calibri"/>
              </a:rPr>
              <a:t>PingFin · Team 20 · CEKVBE88 + HOMNBEB1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11064240" cy="146304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73152" cy="146304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9164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2C94C"/>
                </a:solidFill>
                <a:latin typeface="Calibri"/>
              </a:rPr>
              <a:t>Wat is SEPA?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E2ECFF"/>
                </a:solidFill>
                <a:latin typeface="Calibri"/>
              </a:rPr>
              <a:t>Single Euro Payments Area — een simulatie van het Europees betalingsverkeer waarbij banken PO's (Payment Orders) versturen via een centrale Clearing Bank. Elke transactie reist als een 'ping': OB → CB → BB → ACK terug.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91840"/>
            <a:ext cx="3520440" cy="210312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291840"/>
            <a:ext cx="73152" cy="210312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474720"/>
            <a:ext cx="914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200" b="1">
                <a:solidFill>
                  <a:srgbClr val="F2C94C"/>
                </a:solidFill>
                <a:latin typeface="Calibri"/>
              </a:rPr>
              <a:t>OB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16052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Originating Bank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526280"/>
            <a:ext cx="31089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C93B8"/>
                </a:solidFill>
                <a:latin typeface="Calibri"/>
              </a:rPr>
              <a:t>Verstuurt PO's namens de OA-rekeninghouder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59" y="3291840"/>
            <a:ext cx="3520440" cy="210312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59" y="3291840"/>
            <a:ext cx="73152" cy="21031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79" y="3474720"/>
            <a:ext cx="914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200" b="1">
                <a:solidFill>
                  <a:srgbClr val="CADCFC"/>
                </a:solidFill>
                <a:latin typeface="Calibri"/>
              </a:rPr>
              <a:t>CB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79" y="416052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Clearing Bank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79" y="4526280"/>
            <a:ext cx="31089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C93B8"/>
                </a:solidFill>
                <a:latin typeface="Calibri"/>
              </a:rPr>
              <a:t>Routeert berichten in het midden, valideert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3291840"/>
            <a:ext cx="3520440" cy="210312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55279" y="3291840"/>
            <a:ext cx="73152" cy="2103120"/>
          </a:xfrm>
          <a:prstGeom prst="rect">
            <a:avLst/>
          </a:prstGeom>
          <a:solidFill>
            <a:srgbClr val="22D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3474720"/>
            <a:ext cx="914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200" b="1">
                <a:solidFill>
                  <a:srgbClr val="22D3A0"/>
                </a:solidFill>
                <a:latin typeface="Calibri"/>
              </a:rPr>
              <a:t>BB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16052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Beneficiary Bank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526280"/>
            <a:ext cx="31089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C93B8"/>
                </a:solidFill>
                <a:latin typeface="Calibri"/>
              </a:rPr>
              <a:t>Ontvangt PO, crediteert BA-rekening, stuurt 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2C94C"/>
                </a:solidFill>
                <a:latin typeface="Calibri"/>
              </a:rPr>
              <a:t>Onze rol: 2 gewone banken die zowel OB als BB kunnen zijn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Doelstellingen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7C93B8"/>
                </a:solidFill>
                <a:latin typeface="Calibri"/>
              </a:rPr>
              <a:t>Wat moest ons systeem kunnen?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C93B8"/>
                </a:solidFill>
                <a:latin typeface="Consolas"/>
              </a:rPr>
              <a:t>4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C93B8"/>
                </a:solidFill>
                <a:latin typeface="Calibri"/>
              </a:rPr>
              <a:t>PingFin · Team 20 · CEKVBE88 + HOMNBEB1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3657600" cy="201168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45920"/>
            <a:ext cx="73152" cy="201168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874519"/>
            <a:ext cx="914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0">
                <a:solidFill>
                  <a:srgbClr val="F2C94C"/>
                </a:solidFill>
                <a:latin typeface="Calibri"/>
              </a:rPr>
              <a:t>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6032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PO's verzenden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971800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C93B8"/>
                </a:solidFill>
                <a:latin typeface="Calibri"/>
              </a:rPr>
              <a:t>Genereer + valideer + verstuur via Clearing Bank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0831" y="1645920"/>
            <a:ext cx="3657600" cy="201168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1" y="1645920"/>
            <a:ext cx="73152" cy="201168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1" y="1874519"/>
            <a:ext cx="914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0">
                <a:solidFill>
                  <a:srgbClr val="F2C94C"/>
                </a:solidFill>
                <a:latin typeface="Calibri"/>
              </a:rPr>
              <a:t>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1" y="256032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PO's ontvangen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1" y="2971800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C93B8"/>
                </a:solidFill>
                <a:latin typeface="Calibri"/>
              </a:rPr>
              <a:t>Verwerk inkomende PO's + verstuur ACK terug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93023" y="1645920"/>
            <a:ext cx="3657600" cy="201168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93023" y="1645920"/>
            <a:ext cx="73152" cy="201168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67344" y="1874519"/>
            <a:ext cx="914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0">
                <a:solidFill>
                  <a:srgbClr val="F2C94C"/>
                </a:solidFill>
                <a:latin typeface="Calibri"/>
              </a:rPr>
              <a:t>⚖️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4" y="256032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Validatie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7344" y="2971800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C93B8"/>
                </a:solidFill>
                <a:latin typeface="Calibri"/>
              </a:rPr>
              <a:t>BIC, IBAN, bedrag (≤€500), saldo, format-checks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931920"/>
            <a:ext cx="3657600" cy="201168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931920"/>
            <a:ext cx="73152" cy="201168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4160520"/>
            <a:ext cx="914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0">
                <a:solidFill>
                  <a:srgbClr val="F2C94C"/>
                </a:solidFill>
                <a:latin typeface="Calibri"/>
              </a:rPr>
              <a:t>🛡️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484632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Foutafhandeling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5257800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C93B8"/>
                </a:solidFill>
                <a:latin typeface="Calibri"/>
              </a:rPr>
              <a:t>10 foutcodes (4001-4102) + timeout na 1u + auto-refund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70831" y="3931920"/>
            <a:ext cx="3657600" cy="201168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70831" y="3931920"/>
            <a:ext cx="73152" cy="201168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45151" y="4160520"/>
            <a:ext cx="914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0">
                <a:solidFill>
                  <a:srgbClr val="F2C94C"/>
                </a:solidFill>
                <a:latin typeface="Calibri"/>
              </a:rPr>
              <a:t>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5151" y="484632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GUI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45151" y="5257800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C93B8"/>
                </a:solidFill>
                <a:latin typeface="Calibri"/>
              </a:rPr>
              <a:t>Realtime monitoring + manuele PO + live notifications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93023" y="3931920"/>
            <a:ext cx="3657600" cy="201168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93023" y="3931920"/>
            <a:ext cx="73152" cy="201168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67344" y="4160520"/>
            <a:ext cx="914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0">
                <a:solidFill>
                  <a:srgbClr val="F2C94C"/>
                </a:solidFill>
                <a:latin typeface="Calibri"/>
              </a:rPr>
              <a:t>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67344" y="484632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Security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67344" y="5257800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C93B8"/>
                </a:solidFill>
                <a:latin typeface="Calibri"/>
              </a:rPr>
              <a:t>Bearer-tokens, atomische transacties, SQL-veilig, XSS-veilig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Architectuur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7C93B8"/>
                </a:solidFill>
                <a:latin typeface="Calibri"/>
              </a:rPr>
              <a:t>End-to-end systeemoverzicht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C93B8"/>
                </a:solidFill>
                <a:latin typeface="Consolas"/>
              </a:rPr>
              <a:t>5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C93B8"/>
                </a:solidFill>
                <a:latin typeface="Calibri"/>
              </a:rPr>
              <a:t>PingFin · Team 20 · CEKVBE88 + HOMNBEB1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2926080" cy="91440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73152" cy="9144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GUI Bank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26517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7C93B8"/>
                </a:solidFill>
                <a:latin typeface="Consolas"/>
              </a:rPr>
              <a:t>port 8089 · public/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1645920"/>
            <a:ext cx="2926080" cy="91440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1645920"/>
            <a:ext cx="73152" cy="9144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182880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GUI Bank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286000"/>
            <a:ext cx="26517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7C93B8"/>
                </a:solidFill>
                <a:latin typeface="Consolas"/>
              </a:rPr>
              <a:t>port 8090 · public/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926080"/>
            <a:ext cx="2926080" cy="146304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2926080"/>
            <a:ext cx="73152" cy="146304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10896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Express API · Bank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566160"/>
            <a:ext cx="26517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7C93B8"/>
                </a:solidFill>
                <a:latin typeface="Consolas"/>
              </a:rPr>
              <a:t>routes/ services/ jobs/ lib/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2926080"/>
            <a:ext cx="2926080" cy="146304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12480" y="2926080"/>
            <a:ext cx="73152" cy="146304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310896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Express API · Bank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3566160"/>
            <a:ext cx="26517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7C93B8"/>
                </a:solidFill>
                <a:latin typeface="Consolas"/>
              </a:rPr>
              <a:t>routes/ services/ jobs/ lib/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754880"/>
            <a:ext cx="2926080" cy="91440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754880"/>
            <a:ext cx="73152" cy="9144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93776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MySQL pingfin_b1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394960"/>
            <a:ext cx="26517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7C93B8"/>
                </a:solidFill>
                <a:latin typeface="Consolas"/>
              </a:rPr>
              <a:t>20 accounts · 8 tables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4754880"/>
            <a:ext cx="2926080" cy="91440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12480" y="4754880"/>
            <a:ext cx="73152" cy="9144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49640" y="493776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MySQL pingfin_b2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5394960"/>
            <a:ext cx="26517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7C93B8"/>
                </a:solidFill>
                <a:latin typeface="Consolas"/>
              </a:rPr>
              <a:t>20 accounts · 8 tables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3108960"/>
            <a:ext cx="2468880" cy="128016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846320" y="3108960"/>
            <a:ext cx="73152" cy="128016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83480" y="329184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0F1B3D"/>
                </a:solidFill>
                <a:latin typeface="Calibri"/>
              </a:rPr>
              <a:t>stevenop.be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83480" y="3749039"/>
            <a:ext cx="21945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7C93B8"/>
                </a:solidFill>
                <a:latin typeface="Consolas"/>
              </a:rPr>
              <a:t>Clearing Bank · CB API v2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452628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2C94C"/>
                </a:solidFill>
                <a:latin typeface="Consolas"/>
              </a:rPr>
              <a:t>51 banks registered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194560" y="2560320"/>
            <a:ext cx="0" cy="365760"/>
          </a:xfrm>
          <a:prstGeom prst="line">
            <a:avLst/>
          </a:prstGeom>
          <a:ln w="25400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875520" y="2560320"/>
            <a:ext cx="0" cy="365760"/>
          </a:xfrm>
          <a:prstGeom prst="line">
            <a:avLst/>
          </a:prstGeom>
          <a:ln w="25400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194560" y="4389120"/>
            <a:ext cx="0" cy="365760"/>
          </a:xfrm>
          <a:prstGeom prst="line">
            <a:avLst/>
          </a:prstGeom>
          <a:ln w="25400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875520" y="4389120"/>
            <a:ext cx="0" cy="365760"/>
          </a:xfrm>
          <a:prstGeom prst="line">
            <a:avLst/>
          </a:prstGeom>
          <a:ln w="25400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657600" y="3657600"/>
            <a:ext cx="1188720" cy="45720"/>
          </a:xfrm>
          <a:prstGeom prst="line">
            <a:avLst/>
          </a:prstGeom>
          <a:ln w="25400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315200" y="3657600"/>
            <a:ext cx="1097280" cy="45720"/>
          </a:xfrm>
          <a:prstGeom prst="line">
            <a:avLst/>
          </a:prstGeom>
          <a:ln w="25400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7C93B8"/>
                </a:solidFill>
                <a:latin typeface="Calibri"/>
              </a:rPr>
              <a:t>Beide banken: identieke codebase · enkel .env (BIC + token) verschilt · live op Railway HTTPS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7C93B8"/>
                </a:solidFill>
                <a:latin typeface="Calibri"/>
              </a:rPr>
              <a:t>Wat we gebruikt hebben en waarom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C93B8"/>
                </a:solidFill>
                <a:latin typeface="Consolas"/>
              </a:rPr>
              <a:t>6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C93B8"/>
                </a:solidFill>
                <a:latin typeface="Calibri"/>
              </a:rPr>
              <a:t>PingFin · Team 20 · CEKVBE88 + HOMNBEB1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3657600" cy="201168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45920"/>
            <a:ext cx="73152" cy="201168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82880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2C94C"/>
                </a:solidFill>
                <a:latin typeface="Calibri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14884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Node.js 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60604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CADCFC"/>
                </a:solidFill>
                <a:latin typeface="Consolas"/>
              </a:rPr>
              <a:t>Express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017520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C93B8"/>
                </a:solidFill>
                <a:latin typeface="Calibri"/>
              </a:rPr>
              <a:t>async/await · poll-jobs · groot ecosysteem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70831" y="1645920"/>
            <a:ext cx="3657600" cy="201168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0831" y="1645920"/>
            <a:ext cx="73152" cy="201168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1" y="182880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2C94C"/>
                </a:solidFill>
                <a:latin typeface="Calibri"/>
              </a:rP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1" y="214884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MySQL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1" y="260604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CADCFC"/>
                </a:solidFill>
                <a:latin typeface="Consolas"/>
              </a:rPr>
              <a:t>mysql2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1" y="3017520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C93B8"/>
                </a:solidFill>
                <a:latin typeface="Calibri"/>
              </a:rPr>
              <a:t>DECIMAL voor saldo · prepared statements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93023" y="1645920"/>
            <a:ext cx="3657600" cy="201168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93023" y="1645920"/>
            <a:ext cx="73152" cy="201168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182880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2C94C"/>
                </a:solidFill>
                <a:latin typeface="Calibri"/>
              </a:rPr>
              <a:t>Frontend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214884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Vanilla JS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260604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CADCFC"/>
                </a:solidFill>
                <a:latin typeface="Consolas"/>
              </a:rPr>
              <a:t>HTML/CSS3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7344" y="3017520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C93B8"/>
                </a:solidFill>
                <a:latin typeface="Calibri"/>
              </a:rPr>
              <a:t>Geen framework · 1000+ regels custom code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931920"/>
            <a:ext cx="3657600" cy="201168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931920"/>
            <a:ext cx="73152" cy="201168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" y="411480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2C94C"/>
                </a:solidFill>
                <a:latin typeface="Calibri"/>
              </a:rPr>
              <a:t>Container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443484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Docker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" y="489204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CADCFC"/>
                </a:solidFill>
                <a:latin typeface="Consolas"/>
              </a:rPr>
              <a:t>Compose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" y="5303520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C93B8"/>
                </a:solidFill>
                <a:latin typeface="Calibri"/>
              </a:rPr>
              <a:t>Reproduceerbare deployment per bank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70831" y="3931920"/>
            <a:ext cx="3657600" cy="201168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70831" y="3931920"/>
            <a:ext cx="73152" cy="201168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45151" y="411480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2C94C"/>
                </a:solidFill>
                <a:latin typeface="Calibri"/>
              </a:rPr>
              <a:t>Hosting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45151" y="443484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Railway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45151" y="489204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CADCFC"/>
                </a:solidFill>
                <a:latin typeface="Consolas"/>
              </a:rPr>
              <a:t>HTTPS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45151" y="5303520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C93B8"/>
                </a:solidFill>
                <a:latin typeface="Calibri"/>
              </a:rPr>
              <a:t>Auto-deploy uit GitHub · 24/7 uptime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93023" y="3931920"/>
            <a:ext cx="3657600" cy="201168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93023" y="3931920"/>
            <a:ext cx="73152" cy="201168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67344" y="411480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2C94C"/>
                </a:solidFill>
                <a:latin typeface="Calibri"/>
              </a:rPr>
              <a:t>CI Tests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67344" y="443484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Node tests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67344" y="489204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CADCFC"/>
                </a:solidFill>
                <a:latin typeface="Consolas"/>
              </a:rPr>
              <a:t>node-fetch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67344" y="5303520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C93B8"/>
                </a:solidFill>
                <a:latin typeface="Calibri"/>
              </a:rPr>
              <a:t>40 unit + 18 integration tests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Database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7C93B8"/>
                </a:solidFill>
                <a:latin typeface="Calibri"/>
              </a:rPr>
              <a:t>8 tabellen, manual-conform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C93B8"/>
                </a:solidFill>
                <a:latin typeface="Consolas"/>
              </a:rPr>
              <a:t>7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C93B8"/>
                </a:solidFill>
                <a:latin typeface="Calibri"/>
              </a:rPr>
              <a:t>PingFin · Team 20 · CEKVBE88 + HOMNBEB1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5486400" cy="100584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73152" cy="100584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874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2C94C"/>
                </a:solidFill>
                <a:latin typeface="Consolas"/>
              </a:rPr>
              <a:t>accounts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24028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2ECFF"/>
                </a:solidFill>
                <a:latin typeface="Calibri"/>
              </a:rPr>
              <a:t>rekeningen + saldo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87452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C93B8"/>
                </a:solidFill>
                <a:latin typeface="Calibri"/>
              </a:rPr>
              <a:t>20×€5000 startsaldo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59" y="1691640"/>
            <a:ext cx="5486400" cy="100584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691640"/>
            <a:ext cx="73152" cy="100584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79" y="1874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2C94C"/>
                </a:solidFill>
                <a:latin typeface="Consolas"/>
              </a:rPr>
              <a:t>po_new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224028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2ECFF"/>
                </a:solidFill>
                <a:latin typeface="Calibri"/>
              </a:rPr>
              <a:t>te verwerken PO's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187452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C93B8"/>
                </a:solidFill>
                <a:latin typeface="Calibri"/>
              </a:rPr>
              <a:t>input queue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834640"/>
            <a:ext cx="5486400" cy="100584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834640"/>
            <a:ext cx="73152" cy="100584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3017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2C94C"/>
                </a:solidFill>
                <a:latin typeface="Consolas"/>
              </a:rPr>
              <a:t>po_out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338328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2ECFF"/>
                </a:solidFill>
                <a:latin typeface="Calibri"/>
              </a:rPr>
              <a:t>uitgaande PO's (wij = OB)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01752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C93B8"/>
                </a:solidFill>
                <a:latin typeface="Calibri"/>
              </a:rPr>
              <a:t>status: pending/processed/failed/timeout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59" y="2834640"/>
            <a:ext cx="5486400" cy="100584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59" y="2834640"/>
            <a:ext cx="73152" cy="100584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79" y="3017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2C94C"/>
                </a:solidFill>
                <a:latin typeface="Consolas"/>
              </a:rPr>
              <a:t>po_in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79" y="338328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2ECFF"/>
                </a:solidFill>
                <a:latin typeface="Calibri"/>
              </a:rPr>
              <a:t>inkomende PO's (wij = BB)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19" y="301752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C93B8"/>
                </a:solidFill>
                <a:latin typeface="Calibri"/>
              </a:rPr>
              <a:t>verwerkte berichten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977639"/>
            <a:ext cx="5486400" cy="100584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977639"/>
            <a:ext cx="73152" cy="100584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" y="4160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2C94C"/>
                </a:solidFill>
                <a:latin typeface="Consolas"/>
              </a:rPr>
              <a:t>ack_in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" y="4526279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2ECFF"/>
                </a:solidFill>
                <a:latin typeface="Calibri"/>
              </a:rPr>
              <a:t>ACK's terug van CB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416052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C93B8"/>
                </a:solidFill>
                <a:latin typeface="Calibri"/>
              </a:rPr>
              <a:t>OB-zijde feedback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59" y="3977639"/>
            <a:ext cx="5486400" cy="100584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59" y="3977639"/>
            <a:ext cx="73152" cy="100584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79" y="4160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2C94C"/>
                </a:solidFill>
                <a:latin typeface="Consolas"/>
              </a:rPr>
              <a:t>ack_out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79" y="4526279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2ECFF"/>
                </a:solidFill>
                <a:latin typeface="Calibri"/>
              </a:rPr>
              <a:t>te versturen ACK's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19" y="416052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C93B8"/>
                </a:solidFill>
                <a:latin typeface="Calibri"/>
              </a:rPr>
              <a:t>sent_to_cb flag voor retry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120640"/>
            <a:ext cx="5486400" cy="100584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5120640"/>
            <a:ext cx="73152" cy="100584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59" y="5303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2C94C"/>
                </a:solidFill>
                <a:latin typeface="Consolas"/>
              </a:rPr>
              <a:t>transactions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59" y="5669279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2ECFF"/>
                </a:solidFill>
                <a:latin typeface="Calibri"/>
              </a:rPr>
              <a:t>audit trail per saldobeweging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0" y="530352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C93B8"/>
                </a:solidFill>
                <a:latin typeface="Calibri"/>
              </a:rPr>
              <a:t>signed amount + isvalid/iscomplete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59" y="5120640"/>
            <a:ext cx="5486400" cy="100584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59" y="5120640"/>
            <a:ext cx="73152" cy="100584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79" y="5303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2C94C"/>
                </a:solidFill>
                <a:latin typeface="Consolas"/>
              </a:rPr>
              <a:t>logs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79" y="5669279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2ECFF"/>
                </a:solidFill>
                <a:latin typeface="Calibri"/>
              </a:rPr>
              <a:t>event-log met PO-snapshot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19" y="530352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C93B8"/>
                </a:solidFill>
                <a:latin typeface="Calibri"/>
              </a:rPr>
              <a:t>5000+ events vastgelegd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2C94C"/>
                </a:solidFill>
                <a:latin typeface="Calibri"/>
              </a:rPr>
              <a:t>Atomic transactions: BEGIN → 4 writes → COMMIT/ROLLBACK · geen half-verwerkte staat mogelijk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API Endpoints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7C93B8"/>
                </a:solidFill>
                <a:latin typeface="Calibri"/>
              </a:rPr>
              <a:t>Public (manual) + Internal (eigen design)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C93B8"/>
                </a:solidFill>
                <a:latin typeface="Consolas"/>
              </a:rPr>
              <a:t>8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C93B8"/>
                </a:solidFill>
                <a:latin typeface="Calibri"/>
              </a:rPr>
              <a:t>PingFin · Team 20 · CEKVBE88 + HOMNBEB1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2C94C"/>
                </a:solidFill>
                <a:latin typeface="Calibri"/>
              </a:rPr>
              <a:t>PUBLIC (manual-conform)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5486400" cy="45720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2002536"/>
            <a:ext cx="507491" cy="292608"/>
          </a:xfrm>
          <a:prstGeom prst="roundRect">
            <a:avLst>
              <a:gd name="adj" fmla="val 50000"/>
            </a:avLst>
          </a:prstGeom>
          <a:solidFill>
            <a:srgbClr val="22D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02536"/>
            <a:ext cx="507491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F1B3D"/>
                </a:solidFill>
                <a:latin typeface="Calibri"/>
              </a:rPr>
              <a:t>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956816"/>
            <a:ext cx="32004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onsolas"/>
              </a:rPr>
              <a:t>/api/help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423160"/>
            <a:ext cx="5486400" cy="45720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2505456"/>
            <a:ext cx="507491" cy="292608"/>
          </a:xfrm>
          <a:prstGeom prst="roundRect">
            <a:avLst>
              <a:gd name="adj" fmla="val 50000"/>
            </a:avLst>
          </a:prstGeom>
          <a:solidFill>
            <a:srgbClr val="22D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505456"/>
            <a:ext cx="507491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F1B3D"/>
                </a:solidFill>
                <a:latin typeface="Calibri"/>
              </a:rPr>
              <a:t>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459736"/>
            <a:ext cx="32004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onsolas"/>
              </a:rPr>
              <a:t>/api/info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926080"/>
            <a:ext cx="5486400" cy="45720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3008376"/>
            <a:ext cx="507491" cy="292608"/>
          </a:xfrm>
          <a:prstGeom prst="roundRect">
            <a:avLst>
              <a:gd name="adj" fmla="val 50000"/>
            </a:avLst>
          </a:prstGeom>
          <a:solidFill>
            <a:srgbClr val="22D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008376"/>
            <a:ext cx="507491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F1B3D"/>
                </a:solidFill>
                <a:latin typeface="Calibri"/>
              </a:rPr>
              <a:t>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2962656"/>
            <a:ext cx="32004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onsolas"/>
              </a:rPr>
              <a:t>/api/accounts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429000"/>
            <a:ext cx="5486400" cy="45720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3511296"/>
            <a:ext cx="507491" cy="292608"/>
          </a:xfrm>
          <a:prstGeom prst="roundRect">
            <a:avLst>
              <a:gd name="adj" fmla="val 50000"/>
            </a:avLst>
          </a:prstGeom>
          <a:solidFill>
            <a:srgbClr val="22D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511296"/>
            <a:ext cx="507491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F1B3D"/>
                </a:solidFill>
                <a:latin typeface="Calibri"/>
              </a:rPr>
              <a:t>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465576"/>
            <a:ext cx="32004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onsolas"/>
              </a:rPr>
              <a:t>/api/banks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931920"/>
            <a:ext cx="5486400" cy="45720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800" y="4014216"/>
            <a:ext cx="585216" cy="292608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014216"/>
            <a:ext cx="585216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F1B3D"/>
                </a:solidFill>
                <a:latin typeface="Calibri"/>
              </a:rPr>
              <a:t>POST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3968496"/>
            <a:ext cx="32004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onsolas"/>
              </a:rPr>
              <a:t>/api/po_in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46320" y="4014216"/>
            <a:ext cx="740664" cy="292608"/>
          </a:xfrm>
          <a:prstGeom prst="roundRect">
            <a:avLst>
              <a:gd name="adj" fmla="val 50000"/>
            </a:avLst>
          </a:prstGeom>
          <a:solidFill>
            <a:srgbClr val="F25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4014216"/>
            <a:ext cx="740664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Bearer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434840"/>
            <a:ext cx="5486400" cy="45720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" y="4517136"/>
            <a:ext cx="585216" cy="292608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517136"/>
            <a:ext cx="585216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F1B3D"/>
                </a:solidFill>
                <a:latin typeface="Calibri"/>
              </a:rPr>
              <a:t>POST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4471416"/>
            <a:ext cx="32004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onsolas"/>
              </a:rPr>
              <a:t>/api/ack_in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46320" y="4517136"/>
            <a:ext cx="740664" cy="292608"/>
          </a:xfrm>
          <a:prstGeom prst="roundRect">
            <a:avLst>
              <a:gd name="adj" fmla="val 50000"/>
            </a:avLst>
          </a:prstGeom>
          <a:solidFill>
            <a:srgbClr val="F25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4517136"/>
            <a:ext cx="740664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Bearer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15544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2C94C"/>
                </a:solidFill>
                <a:latin typeface="Calibri"/>
              </a:rPr>
              <a:t>INTERNAL (eigen design)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1920240"/>
            <a:ext cx="5486400" cy="45720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400800" y="2002536"/>
            <a:ext cx="507491" cy="292608"/>
          </a:xfrm>
          <a:prstGeom prst="roundRect">
            <a:avLst>
              <a:gd name="adj" fmla="val 50000"/>
            </a:avLst>
          </a:prstGeom>
          <a:solidFill>
            <a:srgbClr val="22D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2002536"/>
            <a:ext cx="507491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F1B3D"/>
                </a:solidFill>
                <a:latin typeface="Calibri"/>
              </a:rPr>
              <a:t>GET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1956816"/>
            <a:ext cx="32004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onsolas"/>
              </a:rPr>
              <a:t>/po_new/generate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0" y="1956816"/>
            <a:ext cx="13716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7C93B8"/>
                </a:solidFill>
                <a:latin typeface="Consolas"/>
              </a:rPr>
              <a:t>?count=N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2423160"/>
            <a:ext cx="5486400" cy="45720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400800" y="2505456"/>
            <a:ext cx="585216" cy="292608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2505456"/>
            <a:ext cx="585216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F1B3D"/>
                </a:solidFill>
                <a:latin typeface="Calibri"/>
              </a:rPr>
              <a:t>POST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0" y="2459736"/>
            <a:ext cx="32004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onsolas"/>
              </a:rPr>
              <a:t>/po_new/add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0" y="2459736"/>
            <a:ext cx="13716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7C93B8"/>
                </a:solidFill>
                <a:latin typeface="Consolas"/>
              </a:rPr>
              <a:t>list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2926080"/>
            <a:ext cx="5486400" cy="45720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400800" y="3008376"/>
            <a:ext cx="585216" cy="292608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3008376"/>
            <a:ext cx="585216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F1B3D"/>
                </a:solidFill>
                <a:latin typeface="Calibri"/>
              </a:rPr>
              <a:t>POST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0" y="2962656"/>
            <a:ext cx="32004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onsolas"/>
              </a:rPr>
              <a:t>/po_new/manual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1280" y="2962656"/>
            <a:ext cx="13716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7C93B8"/>
                </a:solidFill>
                <a:latin typeface="Consolas"/>
              </a:rPr>
              <a:t>GUI form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63640" y="3429000"/>
            <a:ext cx="5486400" cy="45720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400800" y="3511296"/>
            <a:ext cx="507491" cy="292608"/>
          </a:xfrm>
          <a:prstGeom prst="roundRect">
            <a:avLst>
              <a:gd name="adj" fmla="val 50000"/>
            </a:avLst>
          </a:prstGeom>
          <a:solidFill>
            <a:srgbClr val="22D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0" y="3511296"/>
            <a:ext cx="507491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F1B3D"/>
                </a:solidFill>
                <a:latin typeface="Calibri"/>
              </a:rPr>
              <a:t>GET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2320" y="3465576"/>
            <a:ext cx="32004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onsolas"/>
              </a:rPr>
              <a:t>/po_new/process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41280" y="3465576"/>
            <a:ext cx="13716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7C93B8"/>
                </a:solidFill>
                <a:latin typeface="Consolas"/>
              </a:rPr>
              <a:t>trigger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63640" y="3931920"/>
            <a:ext cx="5486400" cy="45720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400800" y="4014216"/>
            <a:ext cx="507491" cy="292608"/>
          </a:xfrm>
          <a:prstGeom prst="roundRect">
            <a:avLst>
              <a:gd name="adj" fmla="val 50000"/>
            </a:avLst>
          </a:prstGeom>
          <a:solidFill>
            <a:srgbClr val="22D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0" y="4014216"/>
            <a:ext cx="507491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F1B3D"/>
                </a:solidFill>
                <a:latin typeface="Calibri"/>
              </a:rPr>
              <a:t>GET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2320" y="3968496"/>
            <a:ext cx="32004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onsolas"/>
              </a:rPr>
              <a:t>/po_out · /po_in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241280" y="3968496"/>
            <a:ext cx="13716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7C93B8"/>
                </a:solidFill>
                <a:latin typeface="Consolas"/>
              </a:rPr>
              <a:t>read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63640" y="4434840"/>
            <a:ext cx="5486400" cy="45720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400800" y="4517136"/>
            <a:ext cx="507491" cy="292608"/>
          </a:xfrm>
          <a:prstGeom prst="roundRect">
            <a:avLst>
              <a:gd name="adj" fmla="val 50000"/>
            </a:avLst>
          </a:prstGeom>
          <a:solidFill>
            <a:srgbClr val="22D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0" y="4517136"/>
            <a:ext cx="507491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F1B3D"/>
                </a:solidFill>
                <a:latin typeface="Calibri"/>
              </a:rPr>
              <a:t>GET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32320" y="4471416"/>
            <a:ext cx="32004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onsolas"/>
              </a:rPr>
              <a:t>/transactions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41280" y="4471416"/>
            <a:ext cx="13716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7C93B8"/>
                </a:solidFill>
                <a:latin typeface="Consolas"/>
              </a:rPr>
              <a:t>audit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63640" y="4937760"/>
            <a:ext cx="5486400" cy="45720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6400800" y="5020056"/>
            <a:ext cx="507491" cy="292608"/>
          </a:xfrm>
          <a:prstGeom prst="roundRect">
            <a:avLst>
              <a:gd name="adj" fmla="val 50000"/>
            </a:avLst>
          </a:prstGeom>
          <a:solidFill>
            <a:srgbClr val="22D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00800" y="5020056"/>
            <a:ext cx="507491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F1B3D"/>
                </a:solidFill>
                <a:latin typeface="Calibri"/>
              </a:rPr>
              <a:t>GET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32320" y="4974336"/>
            <a:ext cx="32004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onsolas"/>
              </a:rPr>
              <a:t>/logs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241280" y="4974336"/>
            <a:ext cx="13716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7C93B8"/>
                </a:solidFill>
                <a:latin typeface="Consolas"/>
              </a:rPr>
              <a:t>?type= ?limit=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63640" y="5440680"/>
            <a:ext cx="5486400" cy="45720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6400800" y="5522976"/>
            <a:ext cx="507491" cy="292608"/>
          </a:xfrm>
          <a:prstGeom prst="roundRect">
            <a:avLst>
              <a:gd name="adj" fmla="val 50000"/>
            </a:avLst>
          </a:prstGeom>
          <a:solidFill>
            <a:srgbClr val="22D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00800" y="5522976"/>
            <a:ext cx="507491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F1B3D"/>
                </a:solidFill>
                <a:latin typeface="Calibri"/>
              </a:rPr>
              <a:t>GET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132320" y="5477256"/>
            <a:ext cx="32004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onsolas"/>
              </a:rPr>
              <a:t>/jobs/run/:name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241280" y="5477256"/>
            <a:ext cx="13716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7C93B8"/>
                </a:solidFill>
                <a:latin typeface="Consolas"/>
              </a:rPr>
              <a:t>manual job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2C94C"/>
                </a:solidFill>
                <a:latin typeface="Calibri"/>
              </a:rPr>
              <a:t>Plus 5 background jobs · poll-po-out · poll-ack-out · flush-ack-out · timeout-monitor · cb-token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Payment Order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7C93B8"/>
                </a:solidFill>
                <a:latin typeface="Calibri"/>
              </a:rPr>
              <a:t>Use case 5: alle validaties slagen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C93B8"/>
                </a:solidFill>
                <a:latin typeface="Consolas"/>
              </a:rPr>
              <a:t>9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C93B8"/>
                </a:solidFill>
                <a:latin typeface="Calibri"/>
              </a:rPr>
              <a:t>PingFin · Team 20 · CEKVBE88 + HOMNBEB1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828800"/>
            <a:ext cx="914400" cy="914400"/>
          </a:xfrm>
          <a:prstGeom prst="ellipse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9144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0F1B3D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8036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OB validate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246120"/>
            <a:ext cx="1463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7C93B8"/>
                </a:solidFill>
                <a:latin typeface="Calibri"/>
              </a:rPr>
              <a:t>BIC · IBAN · bedrag · saldo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600200" y="2194560"/>
            <a:ext cx="411480" cy="182880"/>
          </a:xfrm>
          <a:prstGeom prst="rightArrow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31720" y="1828800"/>
            <a:ext cx="914400" cy="914400"/>
          </a:xfrm>
          <a:prstGeom prst="ellipse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31720" y="1828800"/>
            <a:ext cx="9144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0F1B3D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88036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Debit OA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3246120"/>
            <a:ext cx="1463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7C93B8"/>
                </a:solidFill>
                <a:latin typeface="Calibri"/>
              </a:rPr>
              <a:t>atomic TX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291840" y="2194560"/>
            <a:ext cx="411480" cy="182880"/>
          </a:xfrm>
          <a:prstGeom prst="rightArrow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023360" y="1828800"/>
            <a:ext cx="914400" cy="914400"/>
          </a:xfrm>
          <a:prstGeom prst="ellipse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0" y="1828800"/>
            <a:ext cx="9144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0F1B3D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40" y="288036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POST /po_in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3246120"/>
            <a:ext cx="1463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7C93B8"/>
                </a:solidFill>
                <a:latin typeface="Calibri"/>
              </a:rPr>
              <a:t>→ CB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983480" y="2194560"/>
            <a:ext cx="411480" cy="182880"/>
          </a:xfrm>
          <a:prstGeom prst="rightArrow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15000" y="1828800"/>
            <a:ext cx="914400" cy="914400"/>
          </a:xfrm>
          <a:prstGeom prst="ellipse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5000" y="1828800"/>
            <a:ext cx="9144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0F1B3D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288036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CB → BB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3246120"/>
            <a:ext cx="1463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7C93B8"/>
                </a:solidFill>
                <a:latin typeface="Calibri"/>
              </a:rPr>
              <a:t>push of poll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6675120" y="2194560"/>
            <a:ext cx="411480" cy="182880"/>
          </a:xfrm>
          <a:prstGeom prst="rightArrow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406640" y="1828800"/>
            <a:ext cx="914400" cy="914400"/>
          </a:xfrm>
          <a:prstGeom prst="ellipse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0" y="1828800"/>
            <a:ext cx="9144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0F1B3D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288036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BB validate + credit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3246120"/>
            <a:ext cx="1463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7C93B8"/>
                </a:solidFill>
                <a:latin typeface="Calibri"/>
              </a:rPr>
              <a:t>atomic TX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8366760" y="2194560"/>
            <a:ext cx="411480" cy="182880"/>
          </a:xfrm>
          <a:prstGeom prst="rightArrow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098280" y="1828800"/>
            <a:ext cx="914400" cy="914400"/>
          </a:xfrm>
          <a:prstGeom prst="ellipse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98280" y="1828800"/>
            <a:ext cx="9144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0F1B3D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288036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POST /ack_in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3246120"/>
            <a:ext cx="1463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7C93B8"/>
                </a:solidFill>
                <a:latin typeface="Calibri"/>
              </a:rPr>
              <a:t>BB → CB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0058400" y="2194560"/>
            <a:ext cx="411480" cy="182880"/>
          </a:xfrm>
          <a:prstGeom prst="rightArrow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789920" y="1828800"/>
            <a:ext cx="914400" cy="914400"/>
          </a:xfrm>
          <a:prstGeom prst="ellipse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789920" y="1828800"/>
            <a:ext cx="9144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0F1B3D"/>
                </a:solidFill>
                <a:latin typeface="Calibr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288036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CB → OB 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3246120"/>
            <a:ext cx="1463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7C93B8"/>
                </a:solidFill>
                <a:latin typeface="Calibri"/>
              </a:rPr>
              <a:t>status processed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297680"/>
            <a:ext cx="11064240" cy="137160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40" y="4297680"/>
            <a:ext cx="73152" cy="1371600"/>
          </a:xfrm>
          <a:prstGeom prst="rect">
            <a:avLst/>
          </a:prstGeom>
          <a:solidFill>
            <a:srgbClr val="22D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44348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2D3A0"/>
                </a:solidFill>
                <a:latin typeface="Calibri"/>
              </a:rPr>
              <a:t>Resultaat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480060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CADCFC"/>
                </a:solidFill>
                <a:latin typeface="Consolas"/>
              </a:rPr>
              <a:t>ob_code: 2000  ·  cb_code: 2000  ·  bb_code: 2000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21208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2D3A0"/>
                </a:solidFill>
                <a:latin typeface="Consolas"/>
              </a:rPr>
              <a:t>OA -€amount  ·  BA +€amount  ·  status: processed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7C93B8"/>
                </a:solidFill>
                <a:latin typeface="Calibri"/>
              </a:rPr>
              <a:t>Atomische TX op beide banken: alles slaagt of alles wordt teruggedraaid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Error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7C93B8"/>
                </a:solidFill>
                <a:latin typeface="Calibri"/>
              </a:rPr>
              <a:t>Wanneer wordt geld gerefund?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C93B8"/>
                </a:solidFill>
                <a:latin typeface="Consolas"/>
              </a:rPr>
              <a:t>10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C93B8"/>
                </a:solidFill>
                <a:latin typeface="Calibri"/>
              </a:rPr>
              <a:t>PingFin · Team 20 · CEKVBE88 + HOMNBEB1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5486400" cy="192024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45920"/>
            <a:ext cx="73152" cy="1920240"/>
          </a:xfrm>
          <a:prstGeom prst="rect">
            <a:avLst/>
          </a:prstGeom>
          <a:solidFill>
            <a:srgbClr val="22D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828800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22D3A0"/>
                </a:solidFill>
                <a:latin typeface="Calibri"/>
              </a:rPr>
              <a:t>OB-fail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33172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Validatie faalt vóór debit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743200"/>
            <a:ext cx="49377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C93B8"/>
                </a:solidFill>
                <a:latin typeface="Calibri"/>
              </a:rPr>
              <a:t>Geen TX · geen geld bewogen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59" y="1645920"/>
            <a:ext cx="5486400" cy="192024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645920"/>
            <a:ext cx="73152" cy="19202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79" y="1828800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5A623"/>
                </a:solidFill>
                <a:latin typeface="Calibri"/>
              </a:rPr>
              <a:t>CB-fail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233172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CB rejecteert (4002-4007)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2743200"/>
            <a:ext cx="49377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C93B8"/>
                </a:solidFill>
                <a:latin typeface="Calibri"/>
              </a:rPr>
              <a:t>Inline refund OA · status='failed'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840480"/>
            <a:ext cx="5486400" cy="192024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840480"/>
            <a:ext cx="73152" cy="19202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4023360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5A623"/>
                </a:solidFill>
                <a:latin typeface="Calibri"/>
              </a:rPr>
              <a:t>BB-fail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452628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BB stuurt negatieve 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4937760"/>
            <a:ext cx="49377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C93B8"/>
                </a:solidFill>
                <a:latin typeface="Calibri"/>
              </a:rPr>
              <a:t>Refund OA via ackInService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59" y="3840480"/>
            <a:ext cx="5486400" cy="192024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59" y="3840480"/>
            <a:ext cx="73152" cy="1920240"/>
          </a:xfrm>
          <a:prstGeom prst="rect">
            <a:avLst/>
          </a:prstGeom>
          <a:solidFill>
            <a:srgbClr val="F25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79" y="4023360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25757"/>
                </a:solidFill>
                <a:latin typeface="Calibri"/>
              </a:rPr>
              <a:t>Timeout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79" y="452628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Geen ACK binnen 1u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4937760"/>
            <a:ext cx="49377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C93B8"/>
                </a:solidFill>
                <a:latin typeface="Calibri"/>
              </a:rPr>
              <a:t>Auto-refund via timeoutMonitor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2C94C"/>
                </a:solidFill>
                <a:latin typeface="Calibri"/>
              </a:rPr>
              <a:t>5 background jobs zorgen dat geen enkele PO blijft hangen — self-healing system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Code Highlight 1: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7C93B8"/>
                </a:solidFill>
                <a:latin typeface="Calibri"/>
              </a:rPr>
              <a:t>Guard clauses · early return · pure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C93B8"/>
                </a:solidFill>
                <a:latin typeface="Consolas"/>
              </a:rPr>
              <a:t>11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C93B8"/>
                </a:solidFill>
                <a:latin typeface="Calibri"/>
              </a:rPr>
              <a:t>PingFin · Team 20 · CEKVBE88 + HOMNBEB1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2C94C"/>
                </a:solidFill>
                <a:latin typeface="Calibri"/>
              </a:rPr>
              <a:t>Aanpak: top-down checklist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5486400" cy="2194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E2ECFF"/>
                </a:solidFill>
                <a:latin typeface="Calibri"/>
              </a:rPr>
              <a:t>We gebruiken early-return guard clauses i.p.v. geneste if-else.
Voordelen:
  • Leest als de manual-checklist
  • Pure functions in lib/validate.js
  • Herbruikbaar tussen OB- en BB-zijde
  • Eenvoudig unit-testbaar (40/40 tests groen)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645920"/>
            <a:ext cx="5486400" cy="420624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645920"/>
            <a:ext cx="73152" cy="420624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78308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2C94C"/>
                </a:solidFill>
                <a:latin typeface="Consolas"/>
              </a:rPr>
              <a:t>services/poInService.js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194560"/>
            <a:ext cx="5212080" cy="3566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onsolas"/>
              </a:rPr>
              <a:t>if (po.bb_id !== BIC) {
  await persistRejection(po, 4004);
  return { bb_code: 4004 };
}
if (!validPoIdFormat(po.po_id)) {
  await persistRejection(po, 4006);
  return { bb_code: 4006 };
}
if (!validIban(po.ba_id)) {
  await persistRejection(po, 4101);
  return { bb_code: 4101 };
}
// alle validaties OK → atomic credit 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7C93B8"/>
                </a:solidFill>
                <a:latin typeface="Calibri"/>
              </a:rPr>
              <a:t>BIC · IBAN (15-34 chars · mod-97 checksum) · po_id · bedrag · saldo · 7 checks per PO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Code Highlight 2: Atomic 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7C93B8"/>
                </a:solidFill>
                <a:latin typeface="Calibri"/>
              </a:rPr>
              <a:t>Geen half-verwerkte betalingen mogelijk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C93B8"/>
                </a:solidFill>
                <a:latin typeface="Consolas"/>
              </a:rPr>
              <a:t>12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C93B8"/>
                </a:solidFill>
                <a:latin typeface="Calibri"/>
              </a:rPr>
              <a:t>PingFin · Team 20 · CEKVBE88 + HOMNBEB1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11064240" cy="41148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45920"/>
            <a:ext cx="73152" cy="41148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2C94C"/>
                </a:solidFill>
                <a:latin typeface="Consolas"/>
              </a:rPr>
              <a:t>services/poInService.js — credit BA atomically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94560"/>
            <a:ext cx="10515600" cy="3383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onsolas"/>
              </a:rPr>
              <a:t>const conn = await pool.getConnection();
try {
  await conn.beginTransaction();
  await conn.query('UPDATE accounts SET balance = balance + ? WHERE id = ?', [amount, ba_id]);
  await conn.query('INSERT INTO po_in (...)');
  await conn.query('INSERT INTO transactions (...)');
  await conn.query('INSERT INTO ack_out (...)');
  await conn.commit();   //  ✅  alles gecommit als één eenheid
} catch (err) {
  await conn.rollback(); //  ❌  faalt iets? alles wordt teruggedraaid
  await persistRejection(po, 4101);
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43600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0">
                <a:solidFill>
                  <a:srgbClr val="F2C94C"/>
                </a:solidFill>
                <a:latin typeface="Calibri"/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943600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ACID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217920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C93B8"/>
                </a:solidFill>
                <a:latin typeface="Calibri"/>
              </a:rPr>
              <a:t>atomic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5943600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0">
                <a:solidFill>
                  <a:srgbClr val="F2C94C"/>
                </a:solidFill>
                <a:latin typeface="Calibri"/>
              </a:rPr>
              <a:t>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5943600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Lock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6217920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C93B8"/>
                </a:solidFill>
                <a:latin typeface="Calibri"/>
              </a:rPr>
              <a:t>row-level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79" y="5943600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0">
                <a:solidFill>
                  <a:srgbClr val="F2C94C"/>
                </a:solidFill>
                <a:latin typeface="Calibri"/>
              </a:rPr>
              <a:t>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19" y="5943600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Fast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19" y="6217920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C93B8"/>
                </a:solidFill>
                <a:latin typeface="Calibri"/>
              </a:rPr>
              <a:t>single conn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399" y="5943600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0">
                <a:solidFill>
                  <a:srgbClr val="F2C94C"/>
                </a:solidFill>
                <a:latin typeface="Calibri"/>
              </a:rPr>
              <a:t>🛡️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39" y="5943600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Safe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39" y="6217920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C93B8"/>
                </a:solidFill>
                <a:latin typeface="Calibri"/>
              </a:rPr>
              <a:t>rollback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Background 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7C93B8"/>
                </a:solidFill>
                <a:latin typeface="Calibri"/>
              </a:rPr>
              <a:t>Self-healing system · 5 processen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C93B8"/>
                </a:solidFill>
                <a:latin typeface="Consolas"/>
              </a:rPr>
              <a:t>13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C93B8"/>
                </a:solidFill>
                <a:latin typeface="Calibri"/>
              </a:rPr>
              <a:t>PingFin · Team 20 · CEKVBE88 + HOMNBEB1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11064240" cy="77724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45920"/>
            <a:ext cx="73152" cy="77724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64792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F2C94C"/>
                </a:solidFill>
                <a:latin typeface="Consolas"/>
              </a:rPr>
              <a:t>pollPoOut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892808"/>
            <a:ext cx="507491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1892808"/>
            <a:ext cx="507491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F1B3D"/>
                </a:solidFill>
                <a:latin typeface="Calibri"/>
              </a:rPr>
              <a:t>30s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764792"/>
            <a:ext cx="6400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E2ECFF"/>
                </a:solidFill>
                <a:latin typeface="Calibri"/>
              </a:rPr>
              <a:t>Haalt PO's voor onze BIC uit CB.po_out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60320"/>
            <a:ext cx="11064240" cy="77724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560320"/>
            <a:ext cx="73152" cy="77724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679191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F2C94C"/>
                </a:solidFill>
                <a:latin typeface="Consolas"/>
              </a:rPr>
              <a:t>pollAckOut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3360" y="2807208"/>
            <a:ext cx="507491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0" y="2807208"/>
            <a:ext cx="507491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F1B3D"/>
                </a:solidFill>
                <a:latin typeface="Calibri"/>
              </a:rPr>
              <a:t>30s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679191"/>
            <a:ext cx="6400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E2ECFF"/>
                </a:solidFill>
                <a:latin typeface="Calibri"/>
              </a:rPr>
              <a:t>Haalt ACK's voor onze verstuurde PO's uit CB.ack_out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474720"/>
            <a:ext cx="11064240" cy="77724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74720"/>
            <a:ext cx="73152" cy="77724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593591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F2C94C"/>
                </a:solidFill>
                <a:latin typeface="Consolas"/>
              </a:rPr>
              <a:t>flushAckOut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23360" y="3721608"/>
            <a:ext cx="507491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0" y="3721608"/>
            <a:ext cx="507491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F1B3D"/>
                </a:solidFill>
                <a:latin typeface="Calibri"/>
              </a:rPr>
              <a:t>60s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593591"/>
            <a:ext cx="6400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E2ECFF"/>
                </a:solidFill>
                <a:latin typeface="Calibri"/>
              </a:rPr>
              <a:t>Retry voor ACK's die niet meteen door CB werden geaccepteerd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389120"/>
            <a:ext cx="11064240" cy="77724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389120"/>
            <a:ext cx="73152" cy="77724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507992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F2C94C"/>
                </a:solidFill>
                <a:latin typeface="Consolas"/>
              </a:rPr>
              <a:t>timeoutMonitor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23360" y="4636008"/>
            <a:ext cx="585216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23360" y="4636008"/>
            <a:ext cx="585216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F1B3D"/>
                </a:solidFill>
                <a:latin typeface="Calibri"/>
              </a:rPr>
              <a:t>5min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4507992"/>
            <a:ext cx="6400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E2ECFF"/>
                </a:solidFill>
                <a:latin typeface="Calibri"/>
              </a:rPr>
              <a:t>Outstanding po_out &gt; 1u → refund OA + status='timeout'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303520"/>
            <a:ext cx="11064240" cy="77724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5303520"/>
            <a:ext cx="73152" cy="77724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422392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F2C94C"/>
                </a:solidFill>
                <a:latin typeface="Consolas"/>
              </a:rPr>
              <a:t>cbTokenRefresh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023360" y="5550408"/>
            <a:ext cx="585216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23360" y="5550408"/>
            <a:ext cx="585216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F1B3D"/>
                </a:solidFill>
                <a:latin typeface="Calibri"/>
              </a:rPr>
              <a:t>3.5h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5422392"/>
            <a:ext cx="6400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E2ECFF"/>
                </a:solidFill>
                <a:latin typeface="Calibri"/>
              </a:rPr>
              <a:t>Vernieuwt Bearer-token vóór TTL van 4u verloopt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2C94C"/>
                </a:solidFill>
                <a:latin typeface="Calibri"/>
              </a:rPr>
              <a:t>Resultaat: als CB even down is, herstelt het systeem zichzelf zonder data te verliezen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GUI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7C93B8"/>
                </a:solidFill>
                <a:latin typeface="Calibri"/>
              </a:rPr>
              <a:t>Gebruiksvriendelijk + realtime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C93B8"/>
                </a:solidFill>
                <a:latin typeface="Consolas"/>
              </a:rPr>
              <a:t>14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C93B8"/>
                </a:solidFill>
                <a:latin typeface="Calibri"/>
              </a:rPr>
              <a:t>PingFin · Team 20 · CEKVBE88 + HOMNBEB1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5486400" cy="100584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45920"/>
            <a:ext cx="73152" cy="100584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810512"/>
            <a:ext cx="50292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📊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19456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C93B8"/>
                </a:solidFill>
                <a:latin typeface="Calibri"/>
              </a:rPr>
              <a:t>6 stats + Quick Actions + bank info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1645920"/>
            <a:ext cx="5486400" cy="100584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59" y="1645920"/>
            <a:ext cx="73152" cy="100584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79" y="1810512"/>
            <a:ext cx="50292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💳 Accounts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219456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C93B8"/>
                </a:solidFill>
                <a:latin typeface="Calibri"/>
              </a:rPr>
              <a:t>Live saldo's met euro-formatting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788920"/>
            <a:ext cx="5486400" cy="100584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788920"/>
            <a:ext cx="73152" cy="100584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2953512"/>
            <a:ext cx="50292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➕ Manuele 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33756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C93B8"/>
                </a:solidFill>
                <a:latin typeface="Calibri"/>
              </a:rPr>
              <a:t>Slimme dropdowns: OA met saldo · BB uit CB.banks · BA datalist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59" y="2788920"/>
            <a:ext cx="5486400" cy="100584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59" y="2788920"/>
            <a:ext cx="73152" cy="100584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79" y="2953512"/>
            <a:ext cx="50292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📤📥 PO_OUT/PO_IN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79" y="333756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C93B8"/>
                </a:solidFill>
                <a:latin typeface="Calibri"/>
              </a:rPr>
              <a:t>Realtime tabellen, kleurgecodeerde badges per code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931920"/>
            <a:ext cx="5486400" cy="100584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931920"/>
            <a:ext cx="73152" cy="100584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4096511"/>
            <a:ext cx="50292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✅📨 ACK tabs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4480559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C93B8"/>
                </a:solidFill>
                <a:latin typeface="Calibri"/>
              </a:rPr>
              <a:t>Inkomende + verstuurde ACK's met datum-locale nl-BE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59" y="3931920"/>
            <a:ext cx="5486400" cy="100584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59" y="3931920"/>
            <a:ext cx="73152" cy="100584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79" y="4096511"/>
            <a:ext cx="50292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💱 Transacties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79" y="4480559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C93B8"/>
                </a:solidFill>
                <a:latin typeface="Calibri"/>
              </a:rPr>
              <a:t>Audit-trail met +/- bedragen + valid/complete vlaggen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074920"/>
            <a:ext cx="5486400" cy="100584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5074920"/>
            <a:ext cx="73152" cy="100584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59" y="5239512"/>
            <a:ext cx="50292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📜 Logs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59" y="5623559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C93B8"/>
                </a:solidFill>
                <a:latin typeface="Calibri"/>
              </a:rPr>
              <a:t>Filter op event-type · 17 verschillende types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59" y="5074920"/>
            <a:ext cx="5486400" cy="100584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59" y="5074920"/>
            <a:ext cx="73152" cy="100584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79" y="5239512"/>
            <a:ext cx="50292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🏛️ Banks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79" y="5623559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C93B8"/>
                </a:solidFill>
                <a:latin typeface="Calibri"/>
              </a:rPr>
              <a:t>51 banken uit CB-cache, eigen BIC gehighlight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Live Notifications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7C93B8"/>
                </a:solidFill>
                <a:latin typeface="Calibri"/>
              </a:rPr>
              <a:t>Auto-poll elke 10s · diff-detection · toast popups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C93B8"/>
                </a:solidFill>
                <a:latin typeface="Consolas"/>
              </a:rPr>
              <a:t>15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C93B8"/>
                </a:solidFill>
                <a:latin typeface="Calibri"/>
              </a:rPr>
              <a:t>PingFin · Team 20 · CEKVBE88 + HOMNBEB1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2C94C"/>
                </a:solidFill>
                <a:latin typeface="Calibri"/>
              </a:rPr>
              <a:t>Hoe werkt het?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5486400" cy="3657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E2ECFF"/>
                </a:solidFill>
                <a:latin typeface="Calibri"/>
              </a:rPr>
              <a:t>Elke 10 seconden:
1.  GUI haalt po_in / po_out / ack_in / ack_out / accounts op
2.  Vergelijkt met snapshot van vorige poll
3.  Toont toast popup voor élke nieuwe rij of statuswijziging
4.  Pulsende dot op nav-knop voor ongelezen events
5.  Live indicator linksonder: groen=OK, rood=API 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2C94C"/>
                </a:solidFill>
                <a:latin typeface="Calibri"/>
              </a:rPr>
              <a:t>Voorbeeld events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103120"/>
            <a:ext cx="5212080" cy="64008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103120"/>
            <a:ext cx="73152" cy="640080"/>
          </a:xfrm>
          <a:prstGeom prst="rect">
            <a:avLst/>
          </a:prstGeom>
          <a:solidFill>
            <a:srgbClr val="22D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212848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22D3A0"/>
                </a:solidFill>
                <a:latin typeface="Calibri"/>
              </a:rPr>
              <a:t>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167127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Nieuwe inkomende PO verwerkt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468879"/>
            <a:ext cx="4389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C93B8"/>
                </a:solidFill>
                <a:latin typeface="Consolas"/>
              </a:rPr>
              <a:t>CEKVBE88_a1b2 · €50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880360"/>
            <a:ext cx="5212080" cy="64008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880360"/>
            <a:ext cx="73152" cy="640080"/>
          </a:xfrm>
          <a:prstGeom prst="rect">
            <a:avLst/>
          </a:prstGeom>
          <a:solidFill>
            <a:srgbClr val="22D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990088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22D3A0"/>
                </a:solidFill>
                <a:latin typeface="Calibri"/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944368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ACK ontvangen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246120"/>
            <a:ext cx="4389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C93B8"/>
                </a:solidFill>
                <a:latin typeface="Consolas"/>
              </a:rPr>
              <a:t>CEKVBE88_a1b2 · 2000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657600"/>
            <a:ext cx="5212080" cy="64008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3657600"/>
            <a:ext cx="73152" cy="640080"/>
          </a:xfrm>
          <a:prstGeom prst="rect">
            <a:avLst/>
          </a:prstGeom>
          <a:solidFill>
            <a:srgbClr val="F25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767328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F25757"/>
                </a:solidFill>
                <a:latin typeface="Calibr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3721608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Negatieve ACK (4004)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4023360"/>
            <a:ext cx="4389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C93B8"/>
                </a:solidFill>
                <a:latin typeface="Consolas"/>
              </a:rPr>
              <a:t>CEKVBE88_x9y2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434840"/>
            <a:ext cx="5212080" cy="64008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4434840"/>
            <a:ext cx="73152" cy="6400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544568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F5A623"/>
                </a:solidFill>
                <a:latin typeface="Calibri"/>
              </a:rPr>
              <a:t>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498848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Saldo gewijzigd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4800600"/>
            <a:ext cx="4389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C93B8"/>
                </a:solidFill>
                <a:latin typeface="Consolas"/>
              </a:rPr>
              <a:t>BE13... €5000 → €4950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5212079"/>
            <a:ext cx="5212080" cy="64008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5212079"/>
            <a:ext cx="73152" cy="640080"/>
          </a:xfrm>
          <a:prstGeom prst="rect">
            <a:avLst/>
          </a:prstGeom>
          <a:solidFill>
            <a:srgbClr val="F25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5321807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F25757"/>
                </a:solidFill>
                <a:latin typeface="Calibri"/>
              </a:rPr>
              <a:t>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5276088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PO getimeout (1u)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5577840"/>
            <a:ext cx="4389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C93B8"/>
                </a:solidFill>
                <a:latin typeface="Consolas"/>
              </a:rPr>
              <a:t>CEKVBE88_z3w4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Live Demo · Stap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7C93B8"/>
                </a:solidFill>
                <a:latin typeface="Calibri"/>
              </a:rPr>
              <a:t>Manuele PO via GUI · Bank 1 → Bank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C93B8"/>
                </a:solidFill>
                <a:latin typeface="Consolas"/>
              </a:rPr>
              <a:t>16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C93B8"/>
                </a:solidFill>
                <a:latin typeface="Calibri"/>
              </a:rPr>
              <a:t>PingFin · Team 20 · CEKVBE88 + HOMNBEB1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2C94C"/>
                </a:solidFill>
                <a:latin typeface="Calibri"/>
              </a:rPr>
              <a:t>Wat we doen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148839"/>
            <a:ext cx="274320" cy="274320"/>
          </a:xfrm>
          <a:prstGeom prst="ellipse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48839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F1B3D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148839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E2ECFF"/>
                </a:solidFill>
                <a:latin typeface="Calibri"/>
              </a:rPr>
              <a:t>Open localhost:8089 (Bank 1)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532887"/>
            <a:ext cx="274320" cy="274320"/>
          </a:xfrm>
          <a:prstGeom prst="ellipse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532887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F1B3D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532887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E2ECFF"/>
                </a:solidFill>
                <a:latin typeface="Calibri"/>
              </a:rPr>
              <a:t>Klik tab '➕ PO Aanmaken'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2916935"/>
            <a:ext cx="274320" cy="274320"/>
          </a:xfrm>
          <a:prstGeom prst="ellipse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916935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F1B3D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916935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E2ECFF"/>
                </a:solidFill>
                <a:latin typeface="Calibri"/>
              </a:rPr>
              <a:t>Open 'Manuele PO' details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300983"/>
            <a:ext cx="274320" cy="274320"/>
          </a:xfrm>
          <a:prstGeom prst="ellipse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300983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F1B3D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300983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E2ECFF"/>
                </a:solidFill>
                <a:latin typeface="Calibri"/>
              </a:rPr>
              <a:t>OA dropdown → kies eigen rekening (saldo zichtbaar)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3685031"/>
            <a:ext cx="274320" cy="274320"/>
          </a:xfrm>
          <a:prstGeom prst="ellipse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685031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F1B3D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685031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E2ECFF"/>
                </a:solidFill>
                <a:latin typeface="Calibri"/>
              </a:rPr>
              <a:t>BB dropdown → kies HOMNBEB1 (Bank 2)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4069080"/>
            <a:ext cx="274320" cy="274320"/>
          </a:xfrm>
          <a:prstGeom prst="ellipse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069080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F1B3D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06908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E2ECFF"/>
                </a:solidFill>
                <a:latin typeface="Calibri"/>
              </a:rPr>
              <a:t>BA IBAN → typ ontvanger</a:t>
            </a:r>
          </a:p>
        </p:txBody>
      </p:sp>
      <p:sp>
        <p:nvSpPr>
          <p:cNvPr id="27" name="Oval 26"/>
          <p:cNvSpPr/>
          <p:nvPr/>
        </p:nvSpPr>
        <p:spPr>
          <a:xfrm>
            <a:off x="548640" y="4453128"/>
            <a:ext cx="274320" cy="274320"/>
          </a:xfrm>
          <a:prstGeom prst="ellipse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453128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F1B3D"/>
                </a:solidFill>
                <a:latin typeface="Calibri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453128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E2ECFF"/>
                </a:solidFill>
                <a:latin typeface="Calibri"/>
              </a:rPr>
              <a:t>Bedrag → €50</a:t>
            </a:r>
          </a:p>
        </p:txBody>
      </p:sp>
      <p:sp>
        <p:nvSpPr>
          <p:cNvPr id="30" name="Oval 29"/>
          <p:cNvSpPr/>
          <p:nvPr/>
        </p:nvSpPr>
        <p:spPr>
          <a:xfrm>
            <a:off x="548640" y="4837176"/>
            <a:ext cx="274320" cy="274320"/>
          </a:xfrm>
          <a:prstGeom prst="ellipse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837176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F1B3D"/>
                </a:solidFill>
                <a:latin typeface="Calibri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4837176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E2ECFF"/>
                </a:solidFill>
                <a:latin typeface="Calibri"/>
              </a:rPr>
              <a:t>Klik 'Verstuur manuele PO'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1645920"/>
            <a:ext cx="5760720" cy="4572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43600" y="1645920"/>
            <a:ext cx="73152" cy="45720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18288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2C94C"/>
                </a:solidFill>
                <a:latin typeface="Calibri"/>
              </a:rPr>
              <a:t>[ SCREENSHOT 1: Manuele PO formulier 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2286000"/>
            <a:ext cx="5486400" cy="3657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7C93B8"/>
                </a:solidFill>
                <a:latin typeface="Calibri"/>
              </a:rPr>
              <a:t>Maak screenshot van:
→ GUI tab 'PO Aanmaken'
→ Manuele PO details geopend
→ Dropdowns met eigen accounts + BB-banken zichtbaar
→ Toast 'Manuele PO aangemaakt' rechtsonder
Vervang deze tekst met je screenshot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Live Demo · Stap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7C93B8"/>
                </a:solidFill>
                <a:latin typeface="Calibri"/>
              </a:rPr>
              <a:t>Verwerk + ontvang 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C93B8"/>
                </a:solidFill>
                <a:latin typeface="Consolas"/>
              </a:rPr>
              <a:t>17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C93B8"/>
                </a:solidFill>
                <a:latin typeface="Calibri"/>
              </a:rPr>
              <a:t>PingFin · Team 20 · CEKVBE88 + HOMNBEB1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2C94C"/>
                </a:solidFill>
                <a:latin typeface="Calibri"/>
              </a:rPr>
              <a:t>Wat gebeurt er na 'Verwerk PO_NEW'?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67127"/>
            <a:ext cx="429768" cy="292608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67127"/>
            <a:ext cx="429768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F1B3D"/>
                </a:solidFill>
                <a:latin typeface="Calibri"/>
              </a:rPr>
              <a:t>0s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148839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E2ECFF"/>
                </a:solidFill>
                <a:latin typeface="Calibri"/>
              </a:rPr>
              <a:t>Bank 1: PO_OUT krijgt rij · saldo daalt €50 · debit transactions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70047"/>
            <a:ext cx="585216" cy="292608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70047"/>
            <a:ext cx="585216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F1B3D"/>
                </a:solidFill>
                <a:latin typeface="Calibri"/>
              </a:rPr>
              <a:t>~30s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651759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E2ECFF"/>
                </a:solidFill>
                <a:latin typeface="Calibri"/>
              </a:rPr>
              <a:t>Bank 2 BB-poller: detecteert PO · processPoIn · credit BA · queue ack_out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172968"/>
            <a:ext cx="585216" cy="292608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172968"/>
            <a:ext cx="585216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F1B3D"/>
                </a:solidFill>
                <a:latin typeface="Calibri"/>
              </a:rPr>
              <a:t>~30s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154679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E2ECFF"/>
                </a:solidFill>
                <a:latin typeface="Calibri"/>
              </a:rPr>
              <a:t>Bank 2: 🟢 Toast 'Nieuwe inkomende PO verwerkt'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75888"/>
            <a:ext cx="585216" cy="292608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675888"/>
            <a:ext cx="585216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F1B3D"/>
                </a:solidFill>
                <a:latin typeface="Calibri"/>
              </a:rPr>
              <a:t>~30s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65760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E2ECFF"/>
                </a:solidFill>
                <a:latin typeface="Calibri"/>
              </a:rPr>
              <a:t>Bank 2: directe POST /ack_in naar CB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178808"/>
            <a:ext cx="585216" cy="292608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178808"/>
            <a:ext cx="585216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F1B3D"/>
                </a:solidFill>
                <a:latin typeface="Calibri"/>
              </a:rPr>
              <a:t>~60s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16052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E2ECFF"/>
                </a:solidFill>
                <a:latin typeface="Calibri"/>
              </a:rPr>
              <a:t>Bank 1 OB-poller: pickt ACK op uit CB.ack_out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681728"/>
            <a:ext cx="585216" cy="292608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681728"/>
            <a:ext cx="585216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F1B3D"/>
                </a:solidFill>
                <a:latin typeface="Calibri"/>
              </a:rPr>
              <a:t>~60s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466344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E2ECFF"/>
                </a:solidFill>
                <a:latin typeface="Calibri"/>
              </a:rPr>
              <a:t>Bank 1: 🟢 Toast 'ACK ontvangen' · status → processed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212080"/>
            <a:ext cx="11064240" cy="128016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212080"/>
            <a:ext cx="73152" cy="128016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349240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2C94C"/>
                </a:solidFill>
                <a:latin typeface="Calibri"/>
              </a:rPr>
              <a:t>[ SCREENSHOT 2: PO_OUT tab met rij status='processed' + Toast 'ACK ontvangen' 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66928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7C93B8"/>
                </a:solidFill>
                <a:latin typeface="Calibri"/>
              </a:rPr>
              <a:t>Maak screenshot na ~60s van GUI Bank 1: PO_OUT met cb_code 2000 + bb_code 2000 + groene status badge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Live Demo · Stap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7C93B8"/>
                </a:solidFill>
                <a:latin typeface="Calibri"/>
              </a:rPr>
              <a:t>Error scenarios — élke foutcode getriggerd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C93B8"/>
                </a:solidFill>
                <a:latin typeface="Consolas"/>
              </a:rPr>
              <a:t>18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C93B8"/>
                </a:solidFill>
                <a:latin typeface="Calibri"/>
              </a:rPr>
              <a:t>PingFin · Team 20 · CEKVBE88 + HOMNBEB1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11064240" cy="246888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45920"/>
            <a:ext cx="73152" cy="2468880"/>
          </a:xfrm>
          <a:prstGeom prst="rect">
            <a:avLst/>
          </a:prstGeom>
          <a:solidFill>
            <a:srgbClr val="F25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2C94C"/>
                </a:solidFill>
                <a:latin typeface="Consolas"/>
              </a:rPr>
              <a:t>Test 4002 — bedrag te hoog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9456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onsolas"/>
              </a:rPr>
              <a:t>curl -X POST http://localhost:8089/api/po_new/manual \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1460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onsolas"/>
              </a:rPr>
              <a:t>  -d '{"oa_id":"BE13...","ba_id":"BE99...","bb_id":"HOMNBEB1","po_amount":600}'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175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2C94C"/>
                </a:solidFill>
                <a:latin typeface="Consolas"/>
              </a:rPr>
              <a:t>Response: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832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25757"/>
                </a:solidFill>
                <a:latin typeface="Consolas"/>
              </a:rPr>
              <a:t>{ "ok": false, "code": 4002, "message": "Ongeldig bedrag" 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9768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2C94C"/>
                </a:solidFill>
                <a:latin typeface="Calibri"/>
              </a:rPr>
              <a:t>Alle 10 foutcodes worden in tests/error-pos.test.js geverifieerd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54880"/>
            <a:ext cx="1440180" cy="292608"/>
          </a:xfrm>
          <a:prstGeom prst="roundRect">
            <a:avLst>
              <a:gd name="adj" fmla="val 50000"/>
            </a:avLst>
          </a:prstGeom>
          <a:solidFill>
            <a:srgbClr val="F25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754880"/>
            <a:ext cx="144018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4002 bedrag&gt;500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0831" y="4754880"/>
            <a:ext cx="1284732" cy="292608"/>
          </a:xfrm>
          <a:prstGeom prst="roundRect">
            <a:avLst>
              <a:gd name="adj" fmla="val 50000"/>
            </a:avLst>
          </a:prstGeom>
          <a:solidFill>
            <a:srgbClr val="F25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0831" y="4754880"/>
            <a:ext cx="1284732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4003 bedrag&lt;0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93023" y="4754880"/>
            <a:ext cx="1440180" cy="292608"/>
          </a:xfrm>
          <a:prstGeom prst="roundRect">
            <a:avLst>
              <a:gd name="adj" fmla="val 50000"/>
            </a:avLst>
          </a:prstGeom>
          <a:solidFill>
            <a:srgbClr val="F25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3023" y="4754880"/>
            <a:ext cx="144018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4004 BB unknown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257800"/>
            <a:ext cx="1362456" cy="292608"/>
          </a:xfrm>
          <a:prstGeom prst="roundRect">
            <a:avLst>
              <a:gd name="adj" fmla="val 50000"/>
            </a:avLst>
          </a:prstGeom>
          <a:solidFill>
            <a:srgbClr val="F25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257800"/>
            <a:ext cx="1362456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4005 duplicate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70831" y="5257800"/>
            <a:ext cx="1517904" cy="292608"/>
          </a:xfrm>
          <a:prstGeom prst="roundRect">
            <a:avLst>
              <a:gd name="adj" fmla="val 50000"/>
            </a:avLst>
          </a:prstGeom>
          <a:solidFill>
            <a:srgbClr val="F25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0831" y="5257800"/>
            <a:ext cx="1517904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4006 OB mismatch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93023" y="525780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F25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93023" y="5257800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4101 ACCOUNT_UNKNOWN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760720"/>
            <a:ext cx="1207008" cy="292608"/>
          </a:xfrm>
          <a:prstGeom prst="roundRect">
            <a:avLst>
              <a:gd name="adj" fmla="val 50000"/>
            </a:avLst>
          </a:prstGeom>
          <a:solidFill>
            <a:srgbClr val="F25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760720"/>
            <a:ext cx="1207008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4102 saldo&lt;0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70831" y="5760720"/>
            <a:ext cx="1284732" cy="292608"/>
          </a:xfrm>
          <a:prstGeom prst="roundRect">
            <a:avLst>
              <a:gd name="adj" fmla="val 50000"/>
            </a:avLst>
          </a:prstGeom>
          <a:solidFill>
            <a:srgbClr val="F25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70831" y="5760720"/>
            <a:ext cx="1284732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401 no Bearer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93023" y="5760720"/>
            <a:ext cx="1517904" cy="292608"/>
          </a:xfrm>
          <a:prstGeom prst="roundRect">
            <a:avLst>
              <a:gd name="adj" fmla="val 50000"/>
            </a:avLst>
          </a:prstGeom>
          <a:solidFill>
            <a:srgbClr val="F25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93023" y="5760720"/>
            <a:ext cx="1517904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401 wrong Bearer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Test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7C93B8"/>
                </a:solidFill>
                <a:latin typeface="Calibri"/>
              </a:rPr>
              <a:t>58 geautomatiseerde tests · alles groen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C93B8"/>
                </a:solidFill>
                <a:latin typeface="Consolas"/>
              </a:rPr>
              <a:t>19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C93B8"/>
                </a:solidFill>
                <a:latin typeface="Calibri"/>
              </a:rPr>
              <a:t>PingFin · Team 20 · CEKVBE88 + HOMNBEB1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274320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0" b="1">
                <a:solidFill>
                  <a:srgbClr val="F2C94C"/>
                </a:solidFill>
                <a:latin typeface="Calibri"/>
              </a:rPr>
              <a:t>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39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7C93B8"/>
                </a:solidFill>
                <a:latin typeface="Calibri"/>
              </a:rPr>
              <a:t>Unit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554480"/>
            <a:ext cx="274320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0" b="1">
                <a:solidFill>
                  <a:srgbClr val="F2C94C"/>
                </a:solidFill>
                <a:latin typeface="Calibri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834639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7C93B8"/>
                </a:solidFill>
                <a:latin typeface="Calibri"/>
              </a:rPr>
              <a:t>Integration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554480"/>
            <a:ext cx="274320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7000" b="1">
                <a:solidFill>
                  <a:srgbClr val="22D3A0"/>
                </a:solidFill>
                <a:latin typeface="Calibri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834639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7C93B8"/>
                </a:solidFill>
                <a:latin typeface="Calibri"/>
              </a:rPr>
              <a:t>Pass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1554480"/>
            <a:ext cx="274320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0" b="1">
                <a:solidFill>
                  <a:srgbClr val="CADCFC"/>
                </a:solidFill>
                <a:latin typeface="Calibri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834639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7C93B8"/>
                </a:solidFill>
                <a:latin typeface="Calibri"/>
              </a:rPr>
              <a:t>Foutcodes gedekt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14800"/>
            <a:ext cx="5486400" cy="219456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114800"/>
            <a:ext cx="73152" cy="219456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5196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2C94C"/>
                </a:solidFill>
                <a:latin typeface="Calibri"/>
              </a:rPr>
              <a:t>Unit tests (validate.test.js)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617720"/>
            <a:ext cx="5212080" cy="1737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E2ECFF"/>
                </a:solidFill>
                <a:latin typeface="Calibri"/>
              </a:rPr>
              <a:t>•  BIC validatie (8/11 chars · case-insensitive)
•  IBAN validatie (15-34 chars · mod-97 checksum)
•  po_id format (BIC prefix · max 50 chars)
•  Bedrag (&gt;0 · ≤500 · max 2 decimalen)
•  Datum format YYYY-MM-DD HH:MM:SS
•  Alle 10 error codes correct
$  npm test  →  40 / 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4114800"/>
            <a:ext cx="5486400" cy="219456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4114800"/>
            <a:ext cx="73152" cy="2194560"/>
          </a:xfrm>
          <a:prstGeom prst="rect">
            <a:avLst/>
          </a:prstGeom>
          <a:solidFill>
            <a:srgbClr val="22D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25196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2D3A0"/>
                </a:solidFill>
                <a:latin typeface="Calibri"/>
              </a:rPr>
              <a:t>Integration tests (error-pos.test.js)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617720"/>
            <a:ext cx="5212080" cy="1737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E2ECFF"/>
                </a:solidFill>
                <a:latin typeface="Calibri"/>
              </a:rPr>
              <a:t>•  POST manual PO met opzettelijke fout
•  Verifieer juiste error-code in response
•  Verifieer log-event geschreven in /api/logs
•  10 scenarios + 8 assertions per scenario
•  Bearer-auth: 401 zonder/met verkeerd token
•  Happy-path baseline
$  npm run test:errors  →  18 / 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Foutcodes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7C93B8"/>
                </a:solidFill>
                <a:latin typeface="Calibri"/>
              </a:rPr>
              <a:t>10 codes — manual-conform + eigen extensies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C93B8"/>
                </a:solidFill>
                <a:latin typeface="Consolas"/>
              </a:rPr>
              <a:t>20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C93B8"/>
                </a:solidFill>
                <a:latin typeface="Calibri"/>
              </a:rPr>
              <a:t>PingFin · Team 20 · CEKVBE88 + HOMNBEB1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5486400" cy="77724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73152" cy="777240"/>
          </a:xfrm>
          <a:prstGeom prst="rect">
            <a:avLst/>
          </a:prstGeom>
          <a:solidFill>
            <a:srgbClr val="22D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8229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22D3A0"/>
                </a:solidFill>
                <a:latin typeface="Consolas"/>
              </a:rPr>
              <a:t>2000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691640"/>
            <a:ext cx="4206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onsolas"/>
              </a:rPr>
              <a:t>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1984248"/>
            <a:ext cx="4206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C93B8"/>
                </a:solidFill>
                <a:latin typeface="Calibri"/>
              </a:rPr>
              <a:t>succesvolle verwerking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59" y="1600200"/>
            <a:ext cx="5486400" cy="77724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600200"/>
            <a:ext cx="73152" cy="7772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737360"/>
            <a:ext cx="8229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F5A623"/>
                </a:solidFill>
                <a:latin typeface="Consolas"/>
              </a:rPr>
              <a:t>4001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59" y="1691640"/>
            <a:ext cx="4206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onsolas"/>
              </a:rPr>
              <a:t>INTERNAL_TX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59" y="1984248"/>
            <a:ext cx="4206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C93B8"/>
                </a:solidFill>
                <a:latin typeface="Calibri"/>
              </a:rPr>
              <a:t>interne PO foutief naar CB gestuurd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514600"/>
            <a:ext cx="5486400" cy="77724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514600"/>
            <a:ext cx="73152" cy="777240"/>
          </a:xfrm>
          <a:prstGeom prst="rect">
            <a:avLst/>
          </a:prstGeom>
          <a:solidFill>
            <a:srgbClr val="F25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651760"/>
            <a:ext cx="8229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F25757"/>
                </a:solidFill>
                <a:latin typeface="Consolas"/>
              </a:rPr>
              <a:t>4002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2606040"/>
            <a:ext cx="4206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onsolas"/>
              </a:rPr>
              <a:t>AMOUNT_EXCEEDED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2898648"/>
            <a:ext cx="4206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C93B8"/>
                </a:solidFill>
                <a:latin typeface="Calibri"/>
              </a:rPr>
              <a:t>bedrag &gt; €500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59" y="2514600"/>
            <a:ext cx="5486400" cy="77724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59" y="2514600"/>
            <a:ext cx="73152" cy="777240"/>
          </a:xfrm>
          <a:prstGeom prst="rect">
            <a:avLst/>
          </a:prstGeom>
          <a:solidFill>
            <a:srgbClr val="F25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2651760"/>
            <a:ext cx="8229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F25757"/>
                </a:solidFill>
                <a:latin typeface="Consolas"/>
              </a:rPr>
              <a:t>4003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59" y="2606040"/>
            <a:ext cx="4206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onsolas"/>
              </a:rPr>
              <a:t>AMOUNT_INVALID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59" y="2898648"/>
            <a:ext cx="4206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C93B8"/>
                </a:solidFill>
                <a:latin typeface="Calibri"/>
              </a:rPr>
              <a:t>bedrag ≤ 0 of NaN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429000"/>
            <a:ext cx="5486400" cy="77724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429000"/>
            <a:ext cx="73152" cy="777240"/>
          </a:xfrm>
          <a:prstGeom prst="rect">
            <a:avLst/>
          </a:prstGeom>
          <a:solidFill>
            <a:srgbClr val="F25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566160"/>
            <a:ext cx="8229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F25757"/>
                </a:solidFill>
                <a:latin typeface="Consolas"/>
              </a:rPr>
              <a:t>4004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3520440"/>
            <a:ext cx="4206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onsolas"/>
              </a:rPr>
              <a:t>BB_UNKNOWN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91640" y="3813048"/>
            <a:ext cx="4206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C93B8"/>
                </a:solidFill>
                <a:latin typeface="Calibri"/>
              </a:rPr>
              <a:t>ontvangende BIC niet bekend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59" y="3429000"/>
            <a:ext cx="5486400" cy="77724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59" y="3429000"/>
            <a:ext cx="73152" cy="7772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3566160"/>
            <a:ext cx="8229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F5A623"/>
                </a:solidFill>
                <a:latin typeface="Consolas"/>
              </a:rPr>
              <a:t>4005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59" y="3520440"/>
            <a:ext cx="4206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onsolas"/>
              </a:rPr>
              <a:t>DUPLICATE_PO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59" y="3813048"/>
            <a:ext cx="4206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C93B8"/>
                </a:solidFill>
                <a:latin typeface="Calibri"/>
              </a:rPr>
              <a:t>po_id reeds verwerkt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343400"/>
            <a:ext cx="5486400" cy="77724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343400"/>
            <a:ext cx="73152" cy="7772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480560"/>
            <a:ext cx="8229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F5A623"/>
                </a:solidFill>
                <a:latin typeface="Consolas"/>
              </a:rPr>
              <a:t>4006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91640" y="4434840"/>
            <a:ext cx="4206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onsolas"/>
              </a:rPr>
              <a:t>OB_MISMATCH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91640" y="4727448"/>
            <a:ext cx="4206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C93B8"/>
                </a:solidFill>
                <a:latin typeface="Calibri"/>
              </a:rPr>
              <a:t>po_id-prefix klopt niet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59" y="4343400"/>
            <a:ext cx="5486400" cy="77724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59" y="4343400"/>
            <a:ext cx="73152" cy="7772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4480560"/>
            <a:ext cx="8229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F5A623"/>
                </a:solidFill>
                <a:latin typeface="Consolas"/>
              </a:rPr>
              <a:t>4007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52359" y="4434840"/>
            <a:ext cx="4206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onsolas"/>
              </a:rPr>
              <a:t>DUP_IN_BATCH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52359" y="4727448"/>
            <a:ext cx="4206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C93B8"/>
                </a:solidFill>
                <a:latin typeface="Calibri"/>
              </a:rPr>
              <a:t>dezelfde po_id 2× in 1 batch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257800"/>
            <a:ext cx="5486400" cy="77724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48640" y="5257800"/>
            <a:ext cx="73152" cy="777240"/>
          </a:xfrm>
          <a:prstGeom prst="rect">
            <a:avLst/>
          </a:prstGeom>
          <a:solidFill>
            <a:srgbClr val="F25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5394960"/>
            <a:ext cx="8229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F25757"/>
                </a:solidFill>
                <a:latin typeface="Consolas"/>
              </a:rPr>
              <a:t>4101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91640" y="5349240"/>
            <a:ext cx="4206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onsolas"/>
              </a:rPr>
              <a:t>ACCOUNT_UNKNOWN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91640" y="5641848"/>
            <a:ext cx="4206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C93B8"/>
                </a:solidFill>
                <a:latin typeface="Calibri"/>
              </a:rPr>
              <a:t>OA/BA bestaat niet of ongeldige IBAN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59" y="5257800"/>
            <a:ext cx="5486400" cy="77724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09359" y="5257800"/>
            <a:ext cx="73152" cy="777240"/>
          </a:xfrm>
          <a:prstGeom prst="rect">
            <a:avLst/>
          </a:prstGeom>
          <a:solidFill>
            <a:srgbClr val="F25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92240" y="5394960"/>
            <a:ext cx="8229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F25757"/>
                </a:solidFill>
                <a:latin typeface="Consolas"/>
              </a:rPr>
              <a:t>4102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52359" y="5349240"/>
            <a:ext cx="4206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onsolas"/>
              </a:rPr>
              <a:t>INSUFFICIENT_BALANCE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52359" y="5641848"/>
            <a:ext cx="4206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C93B8"/>
                </a:solidFill>
                <a:latin typeface="Calibri"/>
              </a:rPr>
              <a:t>OA-saldo &lt; bedrag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7C93B8"/>
                </a:solidFill>
                <a:latin typeface="Calibri"/>
              </a:rPr>
              <a:t>8 verdedigingslagen · OWASP-conform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C93B8"/>
                </a:solidFill>
                <a:latin typeface="Consolas"/>
              </a:rPr>
              <a:t>21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C93B8"/>
                </a:solidFill>
                <a:latin typeface="Calibri"/>
              </a:rPr>
              <a:t>PingFin · Team 20 · CEKVBE88 + HOMNBEB1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5486400" cy="100584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45920"/>
            <a:ext cx="73152" cy="100584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0">
                <a:solidFill>
                  <a:srgbClr val="F2C94C"/>
                </a:solidFill>
                <a:latin typeface="Calibri"/>
              </a:rPr>
              <a:t>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1783080"/>
            <a:ext cx="4480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Bearer Auth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2148840"/>
            <a:ext cx="4480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C93B8"/>
                </a:solidFill>
                <a:latin typeface="Calibri"/>
              </a:rPr>
              <a:t>Inkomend POST → 401 zonder token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59" y="1645920"/>
            <a:ext cx="5486400" cy="100584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645920"/>
            <a:ext cx="73152" cy="100584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810512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0">
                <a:solidFill>
                  <a:srgbClr val="F2C94C"/>
                </a:solidFill>
                <a:latin typeface="Calibri"/>
              </a:rPr>
              <a:t>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1783080"/>
            <a:ext cx="4480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CB-token rotatie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148840"/>
            <a:ext cx="4480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C93B8"/>
                </a:solidFill>
                <a:latin typeface="Calibri"/>
              </a:rPr>
              <a:t>Auto-refresh elke 3.5h (TTL 4h)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88920"/>
            <a:ext cx="5486400" cy="100584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788920"/>
            <a:ext cx="73152" cy="100584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953512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0">
                <a:solidFill>
                  <a:srgbClr val="F2C94C"/>
                </a:solidFill>
                <a:latin typeface="Calibri"/>
              </a:rPr>
              <a:t>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19" y="2926079"/>
            <a:ext cx="4480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SQL injection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19" y="3291839"/>
            <a:ext cx="4480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C93B8"/>
                </a:solidFill>
                <a:latin typeface="Calibri"/>
              </a:rPr>
              <a:t>mysql2 prepared statements · 0 string-concat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59" y="2788920"/>
            <a:ext cx="5486400" cy="100584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59" y="2788920"/>
            <a:ext cx="73152" cy="100584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2953512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0">
                <a:solidFill>
                  <a:srgbClr val="F2C94C"/>
                </a:solidFill>
                <a:latin typeface="Calibri"/>
              </a:rPr>
              <a:t>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2926079"/>
            <a:ext cx="4480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XSS prevention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3291839"/>
            <a:ext cx="4480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C93B8"/>
                </a:solidFill>
                <a:latin typeface="Calibri"/>
              </a:rPr>
              <a:t>escapeHtml() op alle user-data in GUI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931920"/>
            <a:ext cx="5486400" cy="100584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931920"/>
            <a:ext cx="73152" cy="100584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096511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0">
                <a:solidFill>
                  <a:srgbClr val="F2C94C"/>
                </a:solidFill>
                <a:latin typeface="Calibri"/>
              </a:rPr>
              <a:t>🛡️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19" y="4069080"/>
            <a:ext cx="4480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CSP + headers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19" y="4434840"/>
            <a:ext cx="4480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C93B8"/>
                </a:solidFill>
                <a:latin typeface="Calibri"/>
              </a:rPr>
              <a:t>X-Frame-Options · script-src 'self'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59" y="3931920"/>
            <a:ext cx="5486400" cy="100584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59" y="3931920"/>
            <a:ext cx="73152" cy="100584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4096511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0">
                <a:solidFill>
                  <a:srgbClr val="F2C94C"/>
                </a:solidFill>
                <a:latin typeface="Calibri"/>
              </a:rPr>
              <a:t>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4069080"/>
            <a:ext cx="4480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Rate limit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4434840"/>
            <a:ext cx="4480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C93B8"/>
                </a:solidFill>
                <a:latin typeface="Calibri"/>
              </a:rPr>
              <a:t>60 POST/min/IP · 429 op overflow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074920"/>
            <a:ext cx="5486400" cy="100584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5074920"/>
            <a:ext cx="73152" cy="100584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239512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0">
                <a:solidFill>
                  <a:srgbClr val="F2C94C"/>
                </a:solidFill>
                <a:latin typeface="Calibri"/>
              </a:rPr>
              <a:t>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17319" y="5212080"/>
            <a:ext cx="4480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Hidden links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17319" y="5577840"/>
            <a:ext cx="4480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C93B8"/>
                </a:solidFill>
                <a:latin typeface="Calibri"/>
              </a:rPr>
              <a:t>Trello/GitHub alleen op localhost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59" y="5074920"/>
            <a:ext cx="5486400" cy="100584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59" y="5074920"/>
            <a:ext cx="73152" cy="100584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5239512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0">
                <a:solidFill>
                  <a:srgbClr val="F2C94C"/>
                </a:solidFill>
                <a:latin typeface="Calibri"/>
              </a:rPr>
              <a:t>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78040" y="5212080"/>
            <a:ext cx="4480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Secrets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78040" y="5577840"/>
            <a:ext cx="4480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C93B8"/>
                </a:solidFill>
                <a:latin typeface="Calibri"/>
              </a:rPr>
              <a:t>INCOMING_TOKEN in .env (git-ignored)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Difficulties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7C93B8"/>
                </a:solidFill>
                <a:latin typeface="Calibri"/>
              </a:rPr>
              <a:t>6 grote bugs · allemaal gefixt op dag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C93B8"/>
                </a:solidFill>
                <a:latin typeface="Consolas"/>
              </a:rPr>
              <a:t>22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C93B8"/>
                </a:solidFill>
                <a:latin typeface="Calibri"/>
              </a:rPr>
              <a:t>PingFin · Team 20 · CEKVBE88 + HOMNBEB1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5486400" cy="141732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45920"/>
            <a:ext cx="73152" cy="1417320"/>
          </a:xfrm>
          <a:prstGeom prst="rect">
            <a:avLst/>
          </a:prstGeom>
          <a:solidFill>
            <a:srgbClr val="F25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25757"/>
                </a:solidFill>
                <a:latin typeface="Calibri"/>
              </a:rPr>
              <a:t>🐛  OB krijgt geen 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C93B8"/>
                </a:solidFill>
                <a:latin typeface="Calibri"/>
              </a:rPr>
              <a:t>Silent failures in 4 reject-paden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1460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2D3A0"/>
                </a:solidFill>
                <a:latin typeface="Calibri"/>
              </a:rPr>
              <a:t>✅  persistRejection() helper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59" y="1645920"/>
            <a:ext cx="5486400" cy="141732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645920"/>
            <a:ext cx="73152" cy="1417320"/>
          </a:xfrm>
          <a:prstGeom prst="rect">
            <a:avLst/>
          </a:prstGeom>
          <a:solidFill>
            <a:srgbClr val="F25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59" y="178308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25757"/>
                </a:solidFill>
                <a:latin typeface="Calibri"/>
              </a:rPr>
              <a:t>🐛  4101-storm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1488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C93B8"/>
                </a:solidFill>
                <a:latin typeface="Calibri"/>
              </a:rPr>
              <a:t>IBAN regex was BE-only (16 chars)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251460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2D3A0"/>
                </a:solidFill>
                <a:latin typeface="Calibri"/>
              </a:rPr>
              <a:t>✅  Regex naar 15-34 chars internationaal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00400"/>
            <a:ext cx="5486400" cy="141732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200400"/>
            <a:ext cx="73152" cy="1417320"/>
          </a:xfrm>
          <a:prstGeom prst="rect">
            <a:avLst/>
          </a:prstGeom>
          <a:solidFill>
            <a:srgbClr val="F25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33756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25757"/>
                </a:solidFill>
                <a:latin typeface="Calibri"/>
              </a:rPr>
              <a:t>🐛  4004 zelf veroorzaakt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70332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C93B8"/>
                </a:solidFill>
                <a:latin typeface="Calibri"/>
              </a:rPr>
              <a:t>Hard-coded BIC fallback in generator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06908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2D3A0"/>
                </a:solidFill>
                <a:latin typeface="Calibri"/>
              </a:rPr>
              <a:t>✅  503 fail-fast bij CB-onbereik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59" y="3200400"/>
            <a:ext cx="5486400" cy="141732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59" y="3200400"/>
            <a:ext cx="73152" cy="1417320"/>
          </a:xfrm>
          <a:prstGeom prst="rect">
            <a:avLst/>
          </a:prstGeom>
          <a:solidFill>
            <a:srgbClr val="F25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59" y="333756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25757"/>
                </a:solidFill>
                <a:latin typeface="Calibri"/>
              </a:rPr>
              <a:t>🐛  CB-rejectie 1u limbo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59" y="370332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C93B8"/>
                </a:solidFill>
                <a:latin typeface="Calibri"/>
              </a:rPr>
              <a:t>po_out bleef pending bij 4xxx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59" y="406908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2D3A0"/>
                </a:solidFill>
                <a:latin typeface="Calibri"/>
              </a:rPr>
              <a:t>✅  Inline refund in poProcessor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754880"/>
            <a:ext cx="5486400" cy="141732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754880"/>
            <a:ext cx="73152" cy="1417320"/>
          </a:xfrm>
          <a:prstGeom prst="rect">
            <a:avLst/>
          </a:prstGeom>
          <a:solidFill>
            <a:srgbClr val="F25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8920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25757"/>
                </a:solidFill>
                <a:latin typeface="Calibri"/>
              </a:rPr>
              <a:t>🐛  flushAckOut dropte rijen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25780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C93B8"/>
                </a:solidFill>
                <a:latin typeface="Calibri"/>
              </a:rPr>
              <a:t>LEFT JOIN faalde bij ontbrekende po_in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62356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2D3A0"/>
                </a:solidFill>
                <a:latin typeface="Calibri"/>
              </a:rPr>
              <a:t>✅  Fallback naar logs-snapshot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59" y="4754880"/>
            <a:ext cx="5486400" cy="141732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59" y="4754880"/>
            <a:ext cx="73152" cy="1417320"/>
          </a:xfrm>
          <a:prstGeom prst="rect">
            <a:avLst/>
          </a:prstGeom>
          <a:solidFill>
            <a:srgbClr val="F25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59" y="48920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25757"/>
                </a:solidFill>
                <a:latin typeface="Calibri"/>
              </a:rPr>
              <a:t>🐛  BIC case-sensitive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59" y="525780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C93B8"/>
                </a:solidFill>
                <a:latin typeface="Calibri"/>
              </a:rPr>
              <a:t>Andere teams stuurden lowercase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59" y="562356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2D3A0"/>
                </a:solidFill>
                <a:latin typeface="Calibri"/>
              </a:rPr>
              <a:t>✅  toUpperCase() in alle vergelijkingen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Lessons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7C93B8"/>
                </a:solidFill>
                <a:latin typeface="Calibri"/>
              </a:rPr>
              <a:t>Wat we de volgende keer anders doen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C93B8"/>
                </a:solidFill>
                <a:latin typeface="Consolas"/>
              </a:rPr>
              <a:t>23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C93B8"/>
                </a:solidFill>
                <a:latin typeface="Calibri"/>
              </a:rPr>
              <a:t>PingFin · Team 20 · CEKVBE88 + HOMNBEB1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3657600" cy="457200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45920"/>
            <a:ext cx="73152" cy="45720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0">
                <a:solidFill>
                  <a:srgbClr val="F2C94C"/>
                </a:solidFill>
                <a:latin typeface="Calibri"/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82880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Wat ging goed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06040"/>
            <a:ext cx="3291840" cy="3566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E2ECFF"/>
                </a:solidFill>
                <a:latin typeface="Calibri"/>
              </a:rPr>
              <a:t>Vroege CB-API simulatie (dag 1)
Atomische TX vanaf dag 2
Background jobs voor veerkracht
Test suite voor regressie-detectie
Live notifications: 10× sneller debuggen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0831" y="1645920"/>
            <a:ext cx="3657600" cy="457200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1" y="1645920"/>
            <a:ext cx="73152" cy="45720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178308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0">
                <a:solidFill>
                  <a:srgbClr val="F2C94C"/>
                </a:solidFill>
                <a:latin typeface="Calibri"/>
              </a:rPr>
              <a:t>⚠️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85231" y="182880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Wat ging minder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2606040"/>
            <a:ext cx="3291840" cy="3566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E2ECFF"/>
                </a:solidFill>
                <a:latin typeface="Calibri"/>
              </a:rPr>
              <a:t>OneDrive + git = sync-conflicten
Hard-coded fallbacks zijn anti-pattern
Silent error swallowing verbergde bugs
IBAN regex te strikt (BE-only)
Bug-fixes liepen door tot dag 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93023" y="1645920"/>
            <a:ext cx="3657600" cy="457200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93023" y="1645920"/>
            <a:ext cx="73152" cy="45720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75903" y="178308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0">
                <a:solidFill>
                  <a:srgbClr val="F2C94C"/>
                </a:solidFill>
                <a:latin typeface="Calibri"/>
              </a:rPr>
              <a:t>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182880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Volgende keer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3" y="2606040"/>
            <a:ext cx="3291840" cy="3566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E2ECFF"/>
                </a:solidFill>
                <a:latin typeface="Calibri"/>
              </a:rPr>
              <a:t>CI/CD met automated tests vanaf dag 1
Vroege deployment (dag 2)
Geen project in OneDrive — alleen git
Pair-programming voor cross-functional kennis
API-versionering vanaf het begin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Eindstand · Wat is gerealiseerd?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7C93B8"/>
                </a:solidFill>
                <a:latin typeface="Calibri"/>
              </a:rPr>
              <a:t>Alle deliverables van dag 1-4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C93B8"/>
                </a:solidFill>
                <a:latin typeface="Consolas"/>
              </a:rPr>
              <a:t>24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C93B8"/>
                </a:solidFill>
                <a:latin typeface="Calibri"/>
              </a:rPr>
              <a:t>PingFin · Team 20 · CEKVBE88 + HOMNBEB1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274320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7000" b="1">
                <a:solidFill>
                  <a:srgbClr val="22D3A0"/>
                </a:solidFill>
                <a:latin typeface="Calibri"/>
              </a:rPr>
              <a:t>1066+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39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7C93B8"/>
                </a:solidFill>
                <a:latin typeface="Calibri"/>
              </a:rPr>
              <a:t>ACK's verwerkt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554480"/>
            <a:ext cx="274320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7000" b="1">
                <a:solidFill>
                  <a:srgbClr val="CADCFC"/>
                </a:solidFill>
                <a:latin typeface="Calibri"/>
              </a:rPr>
              <a:t>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834639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7C93B8"/>
                </a:solidFill>
                <a:latin typeface="Calibri"/>
              </a:rPr>
              <a:t>Banks bij CB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554480"/>
            <a:ext cx="274320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7000" b="1">
                <a:solidFill>
                  <a:srgbClr val="22D3A0"/>
                </a:solidFill>
                <a:latin typeface="Calibri"/>
              </a:rPr>
              <a:t>58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834639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7C93B8"/>
                </a:solidFill>
                <a:latin typeface="Calibri"/>
              </a:rPr>
              <a:t>Tests groen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554480"/>
            <a:ext cx="274320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6000" b="1">
                <a:solidFill>
                  <a:srgbClr val="F2C94C"/>
                </a:solidFill>
                <a:latin typeface="Calibri"/>
              </a:rPr>
              <a:t>24/7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834639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7C93B8"/>
                </a:solidFill>
                <a:latin typeface="Calibri"/>
              </a:rPr>
              <a:t>Online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57600"/>
            <a:ext cx="1106424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E2ECFF"/>
                </a:solidFill>
                <a:latin typeface="Calibri"/>
              </a:rPr>
              <a:t>✅ Beide banken volledig functioneel — verzenden + ontvangen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986784"/>
            <a:ext cx="1106424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E2ECFF"/>
                </a:solidFill>
                <a:latin typeface="Calibri"/>
              </a:rPr>
              <a:t>✅ Alle 5 use cases uit de manual gedekt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15968"/>
            <a:ext cx="1106424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E2ECFF"/>
                </a:solidFill>
                <a:latin typeface="Calibri"/>
              </a:rPr>
              <a:t>✅ 5 background jobs draaien (poll-po-out · poll-ack-out · flush · timeout · token)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645152"/>
            <a:ext cx="1106424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E2ECFF"/>
                </a:solidFill>
                <a:latin typeface="Calibri"/>
              </a:rPr>
              <a:t>✅ 40 unit + 18 integration tests, allemaal groen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974336"/>
            <a:ext cx="1106424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E2ECFF"/>
                </a:solidFill>
                <a:latin typeface="Calibri"/>
              </a:rPr>
              <a:t>✅ GUI met live updates, toast notifications, slimme dropdowns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03520"/>
            <a:ext cx="1106424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E2ECFF"/>
                </a:solidFill>
                <a:latin typeface="Calibri"/>
              </a:rPr>
              <a:t>✅ Beide banken live op Railway met HTTPS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632704"/>
            <a:ext cx="1106424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E2ECFF"/>
                </a:solidFill>
                <a:latin typeface="Calibri"/>
              </a:rPr>
              <a:t>✅ Per-bank Docker-folder structuur (coach-eis)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61888"/>
            <a:ext cx="1106424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E2ECFF"/>
                </a:solidFill>
                <a:latin typeface="Calibri"/>
              </a:rPr>
              <a:t>✅ Security: 8 verdedigingslagen + audit document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291072"/>
            <a:ext cx="1106424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E2ECFF"/>
                </a:solidFill>
                <a:latin typeface="Calibri"/>
              </a:rPr>
              <a:t>✅ 10 documentatie files (4 dag-rapporten + verslag + tests + security)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0" b="1">
                <a:solidFill>
                  <a:srgbClr val="F2C94C"/>
                </a:solidFill>
                <a:latin typeface="Calibri"/>
              </a:rPr>
              <a:t>Bedankt!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Calibri"/>
              </a:rPr>
              <a:t>Vragen?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7C93B8"/>
                </a:solidFill>
                <a:latin typeface="Calibri"/>
              </a:rPr>
              <a:t>Probeer het zelf: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297680"/>
            <a:ext cx="5029200" cy="82296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4297680"/>
            <a:ext cx="73152" cy="82296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434840"/>
            <a:ext cx="4663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2C94C"/>
                </a:solidFill>
                <a:latin typeface="Calibri"/>
              </a:rPr>
              <a:t>Bank 1 · CEKVBE88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709160"/>
            <a:ext cx="4663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onsolas"/>
              </a:rPr>
              <a:t>pingfin-team20-production.up.railway.app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4297680"/>
            <a:ext cx="5029200" cy="82296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4297680"/>
            <a:ext cx="73152" cy="82296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434840"/>
            <a:ext cx="4663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2C94C"/>
                </a:solidFill>
                <a:latin typeface="Calibri"/>
              </a:rPr>
              <a:t>Bank 2 · HOMNBEB1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709160"/>
            <a:ext cx="4663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onsolas"/>
              </a:rPr>
              <a:t>pingfin-team20-bank2-production.up.railway.app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7C93B8"/>
                </a:solidFill>
                <a:latin typeface="Calibri"/>
              </a:rPr>
              <a:t>Salaheddine Sennouni  ·  Abdallah Azouagh  ·  Ayoub Abdeddoun  ·  Marwan Saidi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26364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C93B8"/>
                </a:solidFill>
                <a:latin typeface="Calibri"/>
              </a:rPr>
              <a:t>Workshop Software Engineering 2026  ·  Odisee  ·  PingFin Team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